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irce Contrast" charset="1" panose="020C0503080504020303"/>
      <p:regular r:id="rId21"/>
    </p:embeddedFont>
    <p:embeddedFont>
      <p:font typeface="Circe Italics" charset="1" panose="020B0502020203090203"/>
      <p:regular r:id="rId22"/>
    </p:embeddedFont>
    <p:embeddedFont>
      <p:font typeface="Circe Bold" charset="1" panose="020B0602020203020203"/>
      <p:regular r:id="rId23"/>
    </p:embeddedFont>
    <p:embeddedFont>
      <p:font typeface="Circe" charset="1" panose="020B0502020203020203"/>
      <p:regular r:id="rId24"/>
    </p:embeddedFont>
    <p:embeddedFont>
      <p:font typeface="Open Sans Bold" charset="1" panose="020B0806030504020204"/>
      <p:regular r:id="rId25"/>
    </p:embeddedFont>
    <p:embeddedFont>
      <p:font typeface="Open Sans" charset="1" panose="020B0606030504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0">
            <a:off x="-1093252" y="-846203"/>
            <a:ext cx="2455604" cy="11548014"/>
            <a:chOff x="0" y="0"/>
            <a:chExt cx="646744" cy="3041452"/>
          </a:xfrm>
        </p:grpSpPr>
        <p:sp>
          <p:nvSpPr>
            <p:cNvPr name="Freeform 3" id="3"/>
            <p:cNvSpPr/>
            <p:nvPr/>
          </p:nvSpPr>
          <p:spPr>
            <a:xfrm flipH="false" flipV="false" rot="0">
              <a:off x="0" y="0"/>
              <a:ext cx="646744" cy="3041452"/>
            </a:xfrm>
            <a:custGeom>
              <a:avLst/>
              <a:gdLst/>
              <a:ahLst/>
              <a:cxnLst/>
              <a:rect r="r" b="b" t="t" l="l"/>
              <a:pathLst>
                <a:path h="3041452" w="646744">
                  <a:moveTo>
                    <a:pt x="0" y="0"/>
                  </a:moveTo>
                  <a:lnTo>
                    <a:pt x="646744" y="0"/>
                  </a:lnTo>
                  <a:lnTo>
                    <a:pt x="646744" y="3041452"/>
                  </a:lnTo>
                  <a:lnTo>
                    <a:pt x="0" y="3041452"/>
                  </a:lnTo>
                  <a:close/>
                </a:path>
              </a:pathLst>
            </a:custGeom>
            <a:solidFill>
              <a:srgbClr val="D8CACA"/>
            </a:solidFill>
          </p:spPr>
        </p:sp>
        <p:sp>
          <p:nvSpPr>
            <p:cNvPr name="TextBox 4" id="4"/>
            <p:cNvSpPr txBox="true"/>
            <p:nvPr/>
          </p:nvSpPr>
          <p:spPr>
            <a:xfrm>
              <a:off x="0" y="-38100"/>
              <a:ext cx="646744" cy="307955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2411877" y="2429502"/>
            <a:ext cx="13464247" cy="3638550"/>
          </a:xfrm>
          <a:prstGeom prst="rect">
            <a:avLst/>
          </a:prstGeom>
        </p:spPr>
        <p:txBody>
          <a:bodyPr anchor="t" rtlCol="false" tIns="0" lIns="0" bIns="0" rIns="0">
            <a:spAutoFit/>
          </a:bodyPr>
          <a:lstStyle/>
          <a:p>
            <a:pPr algn="ctr">
              <a:lnSpc>
                <a:spcPts val="13800"/>
              </a:lnSpc>
            </a:pPr>
            <a:r>
              <a:rPr lang="en-US" sz="15000">
                <a:solidFill>
                  <a:srgbClr val="000000"/>
                </a:solidFill>
                <a:latin typeface="Circe Contrast"/>
                <a:ea typeface="Circe Contrast"/>
                <a:cs typeface="Circe Contrast"/>
                <a:sym typeface="Circe Contrast"/>
              </a:rPr>
              <a:t>Diagrama de clases</a:t>
            </a:r>
          </a:p>
        </p:txBody>
      </p:sp>
      <p:grpSp>
        <p:nvGrpSpPr>
          <p:cNvPr name="Group 6" id="6"/>
          <p:cNvGrpSpPr>
            <a:grpSpLocks noChangeAspect="true"/>
          </p:cNvGrpSpPr>
          <p:nvPr/>
        </p:nvGrpSpPr>
        <p:grpSpPr>
          <a:xfrm rot="0">
            <a:off x="13008776" y="9258300"/>
            <a:ext cx="5246370" cy="5246370"/>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grpSp>
        <p:nvGrpSpPr>
          <p:cNvPr name="Group 8" id="8"/>
          <p:cNvGrpSpPr>
            <a:grpSpLocks noChangeAspect="true"/>
          </p:cNvGrpSpPr>
          <p:nvPr/>
        </p:nvGrpSpPr>
        <p:grpSpPr>
          <a:xfrm rot="0">
            <a:off x="1613152" y="-4217670"/>
            <a:ext cx="5246370" cy="5246370"/>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TextBox 10" id="10"/>
          <p:cNvSpPr txBox="true"/>
          <p:nvPr/>
        </p:nvSpPr>
        <p:spPr>
          <a:xfrm rot="0">
            <a:off x="7894895" y="923925"/>
            <a:ext cx="2498209" cy="935109"/>
          </a:xfrm>
          <a:prstGeom prst="rect">
            <a:avLst/>
          </a:prstGeom>
        </p:spPr>
        <p:txBody>
          <a:bodyPr anchor="t" rtlCol="false" tIns="0" lIns="0" bIns="0" rIns="0">
            <a:spAutoFit/>
          </a:bodyPr>
          <a:lstStyle/>
          <a:p>
            <a:pPr algn="ctr">
              <a:lnSpc>
                <a:spcPts val="7716"/>
              </a:lnSpc>
            </a:pPr>
            <a:r>
              <a:rPr lang="en-US" sz="5511" i="true">
                <a:solidFill>
                  <a:srgbClr val="000000"/>
                </a:solidFill>
                <a:latin typeface="Circe Italics"/>
                <a:ea typeface="Circe Italics"/>
                <a:cs typeface="Circe Italics"/>
                <a:sym typeface="Circe Italics"/>
              </a:rPr>
              <a:t>UML</a:t>
            </a:r>
          </a:p>
        </p:txBody>
      </p:sp>
      <p:sp>
        <p:nvSpPr>
          <p:cNvPr name="TextBox 11" id="11"/>
          <p:cNvSpPr txBox="true"/>
          <p:nvPr/>
        </p:nvSpPr>
        <p:spPr>
          <a:xfrm rot="0">
            <a:off x="2656039" y="6010902"/>
            <a:ext cx="12975921" cy="1556828"/>
          </a:xfrm>
          <a:prstGeom prst="rect">
            <a:avLst/>
          </a:prstGeom>
        </p:spPr>
        <p:txBody>
          <a:bodyPr anchor="t" rtlCol="false" tIns="0" lIns="0" bIns="0" rIns="0">
            <a:spAutoFit/>
          </a:bodyPr>
          <a:lstStyle/>
          <a:p>
            <a:pPr algn="ctr">
              <a:lnSpc>
                <a:spcPts val="4140"/>
              </a:lnSpc>
            </a:pPr>
            <a:r>
              <a:rPr lang="en-US" b="true" sz="2957" spc="127">
                <a:solidFill>
                  <a:srgbClr val="725076"/>
                </a:solidFill>
                <a:latin typeface="Circe Bold"/>
                <a:ea typeface="Circe Bold"/>
                <a:cs typeface="Circe Bold"/>
                <a:sym typeface="Circe Bold"/>
              </a:rPr>
              <a:t>Servicio Nacional de Aprendizaje (SENA)</a:t>
            </a:r>
          </a:p>
          <a:p>
            <a:pPr algn="ctr">
              <a:lnSpc>
                <a:spcPts val="4140"/>
              </a:lnSpc>
            </a:pPr>
            <a:r>
              <a:rPr lang="en-US" b="true" sz="2957" spc="127">
                <a:solidFill>
                  <a:srgbClr val="725076"/>
                </a:solidFill>
                <a:latin typeface="Circe Bold"/>
                <a:ea typeface="Circe Bold"/>
                <a:cs typeface="Circe Bold"/>
                <a:sym typeface="Circe Bold"/>
              </a:rPr>
              <a:t>Centro de Electricidad, Electrónica y Telecomunicaciones (CEET)</a:t>
            </a:r>
          </a:p>
          <a:p>
            <a:pPr algn="ctr">
              <a:lnSpc>
                <a:spcPts val="4140"/>
              </a:lnSpc>
            </a:pPr>
          </a:p>
        </p:txBody>
      </p:sp>
      <p:sp>
        <p:nvSpPr>
          <p:cNvPr name="TextBox 12" id="12"/>
          <p:cNvSpPr txBox="true"/>
          <p:nvPr/>
        </p:nvSpPr>
        <p:spPr>
          <a:xfrm rot="0">
            <a:off x="4236337" y="8197390"/>
            <a:ext cx="9815326" cy="1749053"/>
          </a:xfrm>
          <a:prstGeom prst="rect">
            <a:avLst/>
          </a:prstGeom>
        </p:spPr>
        <p:txBody>
          <a:bodyPr anchor="t" rtlCol="false" tIns="0" lIns="0" bIns="0" rIns="0">
            <a:spAutoFit/>
          </a:bodyPr>
          <a:lstStyle/>
          <a:p>
            <a:pPr algn="ctr">
              <a:lnSpc>
                <a:spcPts val="2800"/>
              </a:lnSpc>
            </a:pPr>
            <a:r>
              <a:rPr lang="en-US" sz="2000">
                <a:solidFill>
                  <a:srgbClr val="000000"/>
                </a:solidFill>
                <a:latin typeface="Circe"/>
                <a:ea typeface="Circe"/>
                <a:cs typeface="Circe"/>
                <a:sym typeface="Circe"/>
              </a:rPr>
              <a:t>Camila Alejandra Mahecha Mancera</a:t>
            </a:r>
          </a:p>
          <a:p>
            <a:pPr algn="ctr">
              <a:lnSpc>
                <a:spcPts val="2800"/>
              </a:lnSpc>
            </a:pPr>
            <a:r>
              <a:rPr lang="en-US" sz="2000">
                <a:solidFill>
                  <a:srgbClr val="000000"/>
                </a:solidFill>
                <a:latin typeface="Circe"/>
                <a:ea typeface="Circe"/>
                <a:cs typeface="Circe"/>
                <a:sym typeface="Circe"/>
              </a:rPr>
              <a:t>Evelyn Zahory Cárdenas Vega</a:t>
            </a:r>
          </a:p>
          <a:p>
            <a:pPr algn="ctr">
              <a:lnSpc>
                <a:spcPts val="2800"/>
              </a:lnSpc>
            </a:pPr>
            <a:r>
              <a:rPr lang="en-US" sz="2000">
                <a:solidFill>
                  <a:srgbClr val="000000"/>
                </a:solidFill>
                <a:latin typeface="Circe"/>
                <a:ea typeface="Circe"/>
                <a:cs typeface="Circe"/>
                <a:sym typeface="Circe"/>
              </a:rPr>
              <a:t>Luz Marina Franco Hernández</a:t>
            </a:r>
          </a:p>
          <a:p>
            <a:pPr algn="ctr">
              <a:lnSpc>
                <a:spcPts val="2800"/>
              </a:lnSpc>
            </a:pPr>
            <a:r>
              <a:rPr lang="en-US" sz="2000">
                <a:solidFill>
                  <a:srgbClr val="000000"/>
                </a:solidFill>
                <a:latin typeface="Circe"/>
                <a:ea typeface="Circe"/>
                <a:cs typeface="Circe"/>
                <a:sym typeface="Circe"/>
              </a:rPr>
              <a:t>Cristian Criollo Tovar</a:t>
            </a:r>
          </a:p>
          <a:p>
            <a:pPr algn="ctr">
              <a:lnSpc>
                <a:spcPts val="2800"/>
              </a:lnSpc>
            </a:pPr>
            <a:r>
              <a:rPr lang="en-US" sz="2000">
                <a:solidFill>
                  <a:srgbClr val="000000"/>
                </a:solidFill>
                <a:latin typeface="Circe"/>
                <a:ea typeface="Circe"/>
                <a:cs typeface="Circe"/>
                <a:sym typeface="Circe"/>
              </a:rPr>
              <a:t>Julian Ladino</a:t>
            </a:r>
          </a:p>
        </p:txBody>
      </p:sp>
      <p:sp>
        <p:nvSpPr>
          <p:cNvPr name="TextBox 13" id="13"/>
          <p:cNvSpPr txBox="true"/>
          <p:nvPr/>
        </p:nvSpPr>
        <p:spPr>
          <a:xfrm rot="0">
            <a:off x="2656039" y="7277636"/>
            <a:ext cx="12975921" cy="506965"/>
          </a:xfrm>
          <a:prstGeom prst="rect">
            <a:avLst/>
          </a:prstGeom>
        </p:spPr>
        <p:txBody>
          <a:bodyPr anchor="t" rtlCol="false" tIns="0" lIns="0" bIns="0" rIns="0">
            <a:spAutoFit/>
          </a:bodyPr>
          <a:lstStyle/>
          <a:p>
            <a:pPr algn="ctr">
              <a:lnSpc>
                <a:spcPts val="4140"/>
              </a:lnSpc>
            </a:pPr>
            <a:r>
              <a:rPr lang="en-US" b="true" sz="2957" spc="127">
                <a:solidFill>
                  <a:srgbClr val="725076"/>
                </a:solidFill>
                <a:latin typeface="Circe Bold"/>
                <a:ea typeface="Circe Bold"/>
                <a:cs typeface="Circe Bold"/>
                <a:sym typeface="Circe Bold"/>
              </a:rPr>
              <a:t>ADSO Ficha 3206403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5870250" y="-418255"/>
            <a:ext cx="3315235" cy="2947545"/>
          </a:xfrm>
          <a:custGeom>
            <a:avLst/>
            <a:gdLst/>
            <a:ahLst/>
            <a:cxnLst/>
            <a:rect r="r" b="b" t="t" l="l"/>
            <a:pathLst>
              <a:path h="2947545" w="3315235">
                <a:moveTo>
                  <a:pt x="0" y="0"/>
                </a:moveTo>
                <a:lnTo>
                  <a:pt x="3315235" y="0"/>
                </a:lnTo>
                <a:lnTo>
                  <a:pt x="3315235"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0"/>
            <a:ext cx="3824285" cy="2775431"/>
          </a:xfrm>
          <a:custGeom>
            <a:avLst/>
            <a:gdLst/>
            <a:ahLst/>
            <a:cxnLst/>
            <a:rect r="r" b="b" t="t" l="l"/>
            <a:pathLst>
              <a:path h="2775431" w="3824285">
                <a:moveTo>
                  <a:pt x="0" y="0"/>
                </a:moveTo>
                <a:lnTo>
                  <a:pt x="3824285" y="0"/>
                </a:lnTo>
                <a:lnTo>
                  <a:pt x="3824285" y="2775431"/>
                </a:lnTo>
                <a:lnTo>
                  <a:pt x="0" y="2775431"/>
                </a:lnTo>
                <a:lnTo>
                  <a:pt x="0" y="0"/>
                </a:lnTo>
                <a:close/>
              </a:path>
            </a:pathLst>
          </a:custGeom>
          <a:blipFill>
            <a:blip r:embed="rId4"/>
            <a:stretch>
              <a:fillRect l="0" t="0" r="0" b="0"/>
            </a:stretch>
          </a:blipFill>
        </p:spPr>
      </p:sp>
      <p:sp>
        <p:nvSpPr>
          <p:cNvPr name="TextBox 4" id="4"/>
          <p:cNvSpPr txBox="true"/>
          <p:nvPr/>
        </p:nvSpPr>
        <p:spPr>
          <a:xfrm rot="0">
            <a:off x="1835244" y="1028700"/>
            <a:ext cx="14552052" cy="1514512"/>
          </a:xfrm>
          <a:prstGeom prst="rect">
            <a:avLst/>
          </a:prstGeom>
        </p:spPr>
        <p:txBody>
          <a:bodyPr anchor="t" rtlCol="false" tIns="0" lIns="0" bIns="0" rIns="0">
            <a:spAutoFit/>
          </a:bodyPr>
          <a:lstStyle/>
          <a:p>
            <a:pPr algn="ctr" marL="0" indent="0" lvl="0">
              <a:lnSpc>
                <a:spcPts val="11999"/>
              </a:lnSpc>
              <a:spcBef>
                <a:spcPct val="0"/>
              </a:spcBef>
            </a:pPr>
            <a:r>
              <a:rPr lang="en-US" sz="9999">
                <a:solidFill>
                  <a:srgbClr val="725076"/>
                </a:solidFill>
                <a:latin typeface="Circe Contrast"/>
                <a:ea typeface="Circe Contrast"/>
                <a:cs typeface="Circe Contrast"/>
                <a:sym typeface="Circe Contrast"/>
              </a:rPr>
              <a:t>¿Qué es UML?</a:t>
            </a:r>
          </a:p>
        </p:txBody>
      </p:sp>
      <p:sp>
        <p:nvSpPr>
          <p:cNvPr name="Freeform 5" id="5"/>
          <p:cNvSpPr/>
          <p:nvPr/>
        </p:nvSpPr>
        <p:spPr>
          <a:xfrm flipH="false" flipV="false" rot="9103110">
            <a:off x="-1814023" y="-1012481"/>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2839801"/>
            <a:ext cx="16184942" cy="1515944"/>
          </a:xfrm>
          <a:prstGeom prst="rect">
            <a:avLst/>
          </a:prstGeom>
        </p:spPr>
        <p:txBody>
          <a:bodyPr anchor="t" rtlCol="false" tIns="0" lIns="0" bIns="0" rIns="0">
            <a:spAutoFit/>
          </a:bodyPr>
          <a:lstStyle/>
          <a:p>
            <a:pPr algn="ctr">
              <a:lnSpc>
                <a:spcPts val="6068"/>
              </a:lnSpc>
            </a:pPr>
            <a:r>
              <a:rPr lang="en-US" sz="4334" b="true">
                <a:solidFill>
                  <a:srgbClr val="725076"/>
                </a:solidFill>
                <a:latin typeface="Open Sans Bold"/>
                <a:ea typeface="Open Sans Bold"/>
                <a:cs typeface="Open Sans Bold"/>
                <a:sym typeface="Open Sans Bold"/>
              </a:rPr>
              <a:t>Lenguaje de modelado unificado para representar sistemas de software.</a:t>
            </a:r>
          </a:p>
        </p:txBody>
      </p:sp>
      <p:sp>
        <p:nvSpPr>
          <p:cNvPr name="TextBox 7" id="7"/>
          <p:cNvSpPr txBox="true"/>
          <p:nvPr/>
        </p:nvSpPr>
        <p:spPr>
          <a:xfrm rot="0">
            <a:off x="1028700" y="4750062"/>
            <a:ext cx="16230600" cy="838274"/>
          </a:xfrm>
          <a:prstGeom prst="rect">
            <a:avLst/>
          </a:prstGeom>
        </p:spPr>
        <p:txBody>
          <a:bodyPr anchor="t" rtlCol="false" tIns="0" lIns="0" bIns="0" rIns="0">
            <a:spAutoFit/>
          </a:bodyPr>
          <a:lstStyle/>
          <a:p>
            <a:pPr algn="l">
              <a:lnSpc>
                <a:spcPts val="3348"/>
              </a:lnSpc>
            </a:pPr>
            <a:r>
              <a:rPr lang="en-US" sz="2790">
                <a:solidFill>
                  <a:srgbClr val="000000"/>
                </a:solidFill>
                <a:latin typeface="Circe"/>
                <a:ea typeface="Circe"/>
                <a:cs typeface="Circe"/>
                <a:sym typeface="Circe"/>
              </a:rPr>
              <a:t>Creado en los años 90 por </a:t>
            </a:r>
            <a:r>
              <a:rPr lang="en-US" sz="2790" b="true">
                <a:solidFill>
                  <a:srgbClr val="000000"/>
                </a:solidFill>
                <a:latin typeface="Circe Bold"/>
                <a:ea typeface="Circe Bold"/>
                <a:cs typeface="Circe Bold"/>
                <a:sym typeface="Circe Bold"/>
              </a:rPr>
              <a:t>Grady Booch</a:t>
            </a:r>
            <a:r>
              <a:rPr lang="en-US" sz="2790">
                <a:solidFill>
                  <a:srgbClr val="000000"/>
                </a:solidFill>
                <a:latin typeface="Circe"/>
                <a:ea typeface="Circe"/>
                <a:cs typeface="Circe"/>
                <a:sym typeface="Circe"/>
              </a:rPr>
              <a:t>, </a:t>
            </a:r>
            <a:r>
              <a:rPr lang="en-US" sz="2790" b="true">
                <a:solidFill>
                  <a:srgbClr val="000000"/>
                </a:solidFill>
                <a:latin typeface="Circe Bold"/>
                <a:ea typeface="Circe Bold"/>
                <a:cs typeface="Circe Bold"/>
                <a:sym typeface="Circe Bold"/>
              </a:rPr>
              <a:t>James Rumbaugh</a:t>
            </a:r>
            <a:r>
              <a:rPr lang="en-US" sz="2790">
                <a:solidFill>
                  <a:srgbClr val="000000"/>
                </a:solidFill>
                <a:latin typeface="Circe"/>
                <a:ea typeface="Circe"/>
                <a:cs typeface="Circe"/>
                <a:sym typeface="Circe"/>
              </a:rPr>
              <a:t> y </a:t>
            </a:r>
            <a:r>
              <a:rPr lang="en-US" sz="2790" b="true">
                <a:solidFill>
                  <a:srgbClr val="000000"/>
                </a:solidFill>
                <a:latin typeface="Circe Bold"/>
                <a:ea typeface="Circe Bold"/>
                <a:cs typeface="Circe Bold"/>
                <a:sym typeface="Circe Bold"/>
              </a:rPr>
              <a:t>Ivar Jacobson</a:t>
            </a:r>
            <a:r>
              <a:rPr lang="en-US" sz="2790">
                <a:solidFill>
                  <a:srgbClr val="000000"/>
                </a:solidFill>
                <a:latin typeface="Circe"/>
                <a:ea typeface="Circe"/>
                <a:cs typeface="Circe"/>
                <a:sym typeface="Circe"/>
              </a:rPr>
              <a:t>. </a:t>
            </a:r>
            <a:r>
              <a:rPr lang="en-US" sz="2790">
                <a:solidFill>
                  <a:srgbClr val="000000"/>
                </a:solidFill>
                <a:latin typeface="Circe"/>
                <a:ea typeface="Circe"/>
                <a:cs typeface="Circe"/>
                <a:sym typeface="Circe"/>
              </a:rPr>
              <a:t>Unificaron varios métodos de modelado en un estándar común.</a:t>
            </a:r>
          </a:p>
        </p:txBody>
      </p:sp>
      <p:sp>
        <p:nvSpPr>
          <p:cNvPr name="TextBox 8" id="8"/>
          <p:cNvSpPr txBox="true"/>
          <p:nvPr/>
        </p:nvSpPr>
        <p:spPr>
          <a:xfrm rot="0">
            <a:off x="6606201" y="5893136"/>
            <a:ext cx="5075597" cy="504899"/>
          </a:xfrm>
          <a:prstGeom prst="rect">
            <a:avLst/>
          </a:prstGeom>
        </p:spPr>
        <p:txBody>
          <a:bodyPr anchor="t" rtlCol="false" tIns="0" lIns="0" bIns="0" rIns="0">
            <a:spAutoFit/>
          </a:bodyPr>
          <a:lstStyle/>
          <a:p>
            <a:pPr algn="ctr">
              <a:lnSpc>
                <a:spcPts val="4004"/>
              </a:lnSpc>
              <a:spcBef>
                <a:spcPct val="0"/>
              </a:spcBef>
            </a:pPr>
            <a:r>
              <a:rPr lang="en-US" b="true" sz="3336">
                <a:solidFill>
                  <a:srgbClr val="725076"/>
                </a:solidFill>
                <a:latin typeface="Circe Bold"/>
                <a:ea typeface="Circe Bold"/>
                <a:cs typeface="Circe Bold"/>
                <a:sym typeface="Circe Bold"/>
              </a:rPr>
              <a:t>Tipos de diagramas en UML</a:t>
            </a:r>
          </a:p>
        </p:txBody>
      </p:sp>
      <p:grpSp>
        <p:nvGrpSpPr>
          <p:cNvPr name="Group 9" id="9"/>
          <p:cNvGrpSpPr/>
          <p:nvPr/>
        </p:nvGrpSpPr>
        <p:grpSpPr>
          <a:xfrm rot="0">
            <a:off x="1028700" y="6951423"/>
            <a:ext cx="7729050" cy="2902513"/>
            <a:chOff x="0" y="0"/>
            <a:chExt cx="10305401" cy="3870017"/>
          </a:xfrm>
        </p:grpSpPr>
        <p:grpSp>
          <p:nvGrpSpPr>
            <p:cNvPr name="Group 10" id="10"/>
            <p:cNvGrpSpPr/>
            <p:nvPr/>
          </p:nvGrpSpPr>
          <p:grpSpPr>
            <a:xfrm rot="0">
              <a:off x="3855931" y="0"/>
              <a:ext cx="4114800" cy="1274932"/>
              <a:chOff x="0" y="0"/>
              <a:chExt cx="812800" cy="251838"/>
            </a:xfrm>
          </p:grpSpPr>
          <p:sp>
            <p:nvSpPr>
              <p:cNvPr name="Freeform 11" id="11"/>
              <p:cNvSpPr/>
              <p:nvPr/>
            </p:nvSpPr>
            <p:spPr>
              <a:xfrm flipH="false" flipV="false" rot="0">
                <a:off x="0" y="0"/>
                <a:ext cx="812800" cy="251838"/>
              </a:xfrm>
              <a:custGeom>
                <a:avLst/>
                <a:gdLst/>
                <a:ahLst/>
                <a:cxnLst/>
                <a:rect r="r" b="b" t="t" l="l"/>
                <a:pathLst>
                  <a:path h="251838" w="812800">
                    <a:moveTo>
                      <a:pt x="812800" y="0"/>
                    </a:moveTo>
                    <a:lnTo>
                      <a:pt x="0" y="0"/>
                    </a:lnTo>
                    <a:lnTo>
                      <a:pt x="101600" y="125919"/>
                    </a:lnTo>
                    <a:lnTo>
                      <a:pt x="0" y="251838"/>
                    </a:lnTo>
                    <a:lnTo>
                      <a:pt x="812800" y="251838"/>
                    </a:lnTo>
                    <a:lnTo>
                      <a:pt x="711200" y="125919"/>
                    </a:lnTo>
                    <a:lnTo>
                      <a:pt x="812800" y="0"/>
                    </a:lnTo>
                    <a:close/>
                  </a:path>
                </a:pathLst>
              </a:custGeom>
              <a:solidFill>
                <a:srgbClr val="EDA7A7"/>
              </a:solidFill>
            </p:spPr>
          </p:sp>
          <p:sp>
            <p:nvSpPr>
              <p:cNvPr name="TextBox 12" id="12"/>
              <p:cNvSpPr txBox="true"/>
              <p:nvPr/>
            </p:nvSpPr>
            <p:spPr>
              <a:xfrm>
                <a:off x="88900" y="0"/>
                <a:ext cx="635000" cy="251838"/>
              </a:xfrm>
              <a:prstGeom prst="rect">
                <a:avLst/>
              </a:prstGeom>
            </p:spPr>
            <p:txBody>
              <a:bodyPr anchor="ctr" rtlCol="false" tIns="50800" lIns="50800" bIns="50800" rIns="50800"/>
              <a:lstStyle/>
              <a:p>
                <a:pPr algn="ctr">
                  <a:lnSpc>
                    <a:spcPts val="3348"/>
                  </a:lnSpc>
                </a:pPr>
                <a:r>
                  <a:rPr lang="en-US" sz="2790">
                    <a:solidFill>
                      <a:srgbClr val="000000"/>
                    </a:solidFill>
                    <a:latin typeface="Circe"/>
                    <a:ea typeface="Circe"/>
                    <a:cs typeface="Circe"/>
                    <a:sym typeface="Circe"/>
                  </a:rPr>
                  <a:t>Estructurales</a:t>
                </a:r>
              </a:p>
            </p:txBody>
          </p:sp>
        </p:grpSp>
        <p:sp>
          <p:nvSpPr>
            <p:cNvPr name="Freeform 13" id="13"/>
            <p:cNvSpPr/>
            <p:nvPr/>
          </p:nvSpPr>
          <p:spPr>
            <a:xfrm flipH="false" flipV="false" rot="0">
              <a:off x="0" y="392620"/>
              <a:ext cx="3441760" cy="2326160"/>
            </a:xfrm>
            <a:custGeom>
              <a:avLst/>
              <a:gdLst/>
              <a:ahLst/>
              <a:cxnLst/>
              <a:rect r="r" b="b" t="t" l="l"/>
              <a:pathLst>
                <a:path h="2326160" w="3441760">
                  <a:moveTo>
                    <a:pt x="0" y="0"/>
                  </a:moveTo>
                  <a:lnTo>
                    <a:pt x="3441760" y="0"/>
                  </a:lnTo>
                  <a:lnTo>
                    <a:pt x="3441760" y="2326160"/>
                  </a:lnTo>
                  <a:lnTo>
                    <a:pt x="0" y="2326160"/>
                  </a:lnTo>
                  <a:lnTo>
                    <a:pt x="0" y="0"/>
                  </a:lnTo>
                  <a:close/>
                </a:path>
              </a:pathLst>
            </a:custGeom>
            <a:blipFill>
              <a:blip r:embed="rId5"/>
              <a:stretch>
                <a:fillRect l="-13835" t="-24372" r="-10453" b="-22744"/>
              </a:stretch>
            </a:blipFill>
          </p:spPr>
        </p:sp>
        <p:sp>
          <p:nvSpPr>
            <p:cNvPr name="TextBox 14" id="14"/>
            <p:cNvSpPr txBox="true"/>
            <p:nvPr/>
          </p:nvSpPr>
          <p:spPr>
            <a:xfrm rot="0">
              <a:off x="3747069" y="2317750"/>
              <a:ext cx="2606737" cy="558850"/>
            </a:xfrm>
            <a:prstGeom prst="rect">
              <a:avLst/>
            </a:prstGeom>
          </p:spPr>
          <p:txBody>
            <a:bodyPr anchor="t" rtlCol="false" tIns="0" lIns="0" bIns="0" rIns="0">
              <a:spAutoFit/>
            </a:bodyPr>
            <a:lstStyle/>
            <a:p>
              <a:pPr algn="l" marL="602411" indent="-301206" lvl="1">
                <a:lnSpc>
                  <a:spcPts val="3348"/>
                </a:lnSpc>
                <a:buFont typeface="Arial"/>
                <a:buChar char="•"/>
              </a:pPr>
              <a:r>
                <a:rPr lang="en-US" b="true" sz="2790">
                  <a:solidFill>
                    <a:srgbClr val="000000"/>
                  </a:solidFill>
                  <a:latin typeface="Circe Bold"/>
                  <a:ea typeface="Circe Bold"/>
                  <a:cs typeface="Circe Bold"/>
                  <a:sym typeface="Circe Bold"/>
                </a:rPr>
                <a:t>Clases</a:t>
              </a:r>
            </a:p>
          </p:txBody>
        </p:sp>
        <p:sp>
          <p:nvSpPr>
            <p:cNvPr name="AutoShape 15" id="15"/>
            <p:cNvSpPr/>
            <p:nvPr/>
          </p:nvSpPr>
          <p:spPr>
            <a:xfrm flipV="true">
              <a:off x="2173764" y="2876599"/>
              <a:ext cx="2876674" cy="381693"/>
            </a:xfrm>
            <a:prstGeom prst="line">
              <a:avLst/>
            </a:prstGeom>
            <a:ln cap="flat" w="127000">
              <a:solidFill>
                <a:srgbClr val="725076"/>
              </a:solidFill>
              <a:prstDash val="solid"/>
              <a:headEnd type="triangle" len="med" w="lg"/>
              <a:tailEnd type="none" len="sm" w="sm"/>
            </a:ln>
          </p:spPr>
        </p:sp>
        <p:sp>
          <p:nvSpPr>
            <p:cNvPr name="TextBox 16" id="16"/>
            <p:cNvSpPr txBox="true"/>
            <p:nvPr/>
          </p:nvSpPr>
          <p:spPr>
            <a:xfrm rot="0">
              <a:off x="3633048" y="1555700"/>
              <a:ext cx="2564519" cy="558850"/>
            </a:xfrm>
            <a:prstGeom prst="rect">
              <a:avLst/>
            </a:prstGeom>
          </p:spPr>
          <p:txBody>
            <a:bodyPr anchor="t" rtlCol="false" tIns="0" lIns="0" bIns="0" rIns="0">
              <a:spAutoFit/>
            </a:bodyPr>
            <a:lstStyle/>
            <a:p>
              <a:pPr algn="l" marL="602411" indent="-301206" lvl="1">
                <a:lnSpc>
                  <a:spcPts val="3348"/>
                </a:lnSpc>
                <a:buFont typeface="Arial"/>
                <a:buChar char="•"/>
              </a:pPr>
              <a:r>
                <a:rPr lang="en-US" sz="2790">
                  <a:solidFill>
                    <a:srgbClr val="000000"/>
                  </a:solidFill>
                  <a:latin typeface="Circe"/>
                  <a:ea typeface="Circe"/>
                  <a:cs typeface="Circe"/>
                  <a:sym typeface="Circe"/>
                </a:rPr>
                <a:t>objetos</a:t>
              </a:r>
            </a:p>
          </p:txBody>
        </p:sp>
        <p:sp>
          <p:nvSpPr>
            <p:cNvPr name="TextBox 17" id="17"/>
            <p:cNvSpPr txBox="true"/>
            <p:nvPr/>
          </p:nvSpPr>
          <p:spPr>
            <a:xfrm rot="0">
              <a:off x="6353806" y="1555700"/>
              <a:ext cx="3951595" cy="558850"/>
            </a:xfrm>
            <a:prstGeom prst="rect">
              <a:avLst/>
            </a:prstGeom>
          </p:spPr>
          <p:txBody>
            <a:bodyPr anchor="t" rtlCol="false" tIns="0" lIns="0" bIns="0" rIns="0">
              <a:spAutoFit/>
            </a:bodyPr>
            <a:lstStyle/>
            <a:p>
              <a:pPr algn="l" marL="602411" indent="-301206" lvl="1">
                <a:lnSpc>
                  <a:spcPts val="3348"/>
                </a:lnSpc>
                <a:buFont typeface="Arial"/>
                <a:buChar char="•"/>
              </a:pPr>
              <a:r>
                <a:rPr lang="en-US" sz="2790">
                  <a:solidFill>
                    <a:srgbClr val="000000"/>
                  </a:solidFill>
                  <a:latin typeface="Circe"/>
                  <a:ea typeface="Circe"/>
                  <a:cs typeface="Circe"/>
                  <a:sym typeface="Circe"/>
                </a:rPr>
                <a:t>componentes</a:t>
              </a:r>
            </a:p>
          </p:txBody>
        </p:sp>
        <p:sp>
          <p:nvSpPr>
            <p:cNvPr name="TextBox 18" id="18"/>
            <p:cNvSpPr txBox="true"/>
            <p:nvPr/>
          </p:nvSpPr>
          <p:spPr>
            <a:xfrm rot="0">
              <a:off x="6462110" y="2354481"/>
              <a:ext cx="3017242" cy="558850"/>
            </a:xfrm>
            <a:prstGeom prst="rect">
              <a:avLst/>
            </a:prstGeom>
          </p:spPr>
          <p:txBody>
            <a:bodyPr anchor="t" rtlCol="false" tIns="0" lIns="0" bIns="0" rIns="0">
              <a:spAutoFit/>
            </a:bodyPr>
            <a:lstStyle/>
            <a:p>
              <a:pPr algn="ctr" marL="602411" indent="-301206" lvl="1">
                <a:lnSpc>
                  <a:spcPts val="3348"/>
                </a:lnSpc>
                <a:buFont typeface="Arial"/>
                <a:buChar char="•"/>
              </a:pPr>
              <a:r>
                <a:rPr lang="en-US" sz="2790">
                  <a:solidFill>
                    <a:srgbClr val="000000"/>
                  </a:solidFill>
                  <a:latin typeface="Circe"/>
                  <a:ea typeface="Circe"/>
                  <a:cs typeface="Circe"/>
                  <a:sym typeface="Circe"/>
                </a:rPr>
                <a:t>despliegue</a:t>
              </a:r>
            </a:p>
          </p:txBody>
        </p:sp>
      </p:grpSp>
      <p:grpSp>
        <p:nvGrpSpPr>
          <p:cNvPr name="Group 19" id="19"/>
          <p:cNvGrpSpPr/>
          <p:nvPr/>
        </p:nvGrpSpPr>
        <p:grpSpPr>
          <a:xfrm rot="0">
            <a:off x="9367350" y="6779035"/>
            <a:ext cx="8409187" cy="3130618"/>
            <a:chOff x="0" y="0"/>
            <a:chExt cx="11212249" cy="4174157"/>
          </a:xfrm>
        </p:grpSpPr>
        <p:grpSp>
          <p:nvGrpSpPr>
            <p:cNvPr name="Group 20" id="20"/>
            <p:cNvGrpSpPr/>
            <p:nvPr/>
          </p:nvGrpSpPr>
          <p:grpSpPr>
            <a:xfrm rot="0">
              <a:off x="734147" y="229851"/>
              <a:ext cx="4964058" cy="1274932"/>
              <a:chOff x="0" y="0"/>
              <a:chExt cx="980555" cy="251838"/>
            </a:xfrm>
          </p:grpSpPr>
          <p:sp>
            <p:nvSpPr>
              <p:cNvPr name="Freeform 21" id="21"/>
              <p:cNvSpPr/>
              <p:nvPr/>
            </p:nvSpPr>
            <p:spPr>
              <a:xfrm flipH="false" flipV="false" rot="0">
                <a:off x="0" y="0"/>
                <a:ext cx="980555" cy="251838"/>
              </a:xfrm>
              <a:custGeom>
                <a:avLst/>
                <a:gdLst/>
                <a:ahLst/>
                <a:cxnLst/>
                <a:rect r="r" b="b" t="t" l="l"/>
                <a:pathLst>
                  <a:path h="251838" w="980555">
                    <a:moveTo>
                      <a:pt x="980555" y="0"/>
                    </a:moveTo>
                    <a:lnTo>
                      <a:pt x="0" y="0"/>
                    </a:lnTo>
                    <a:lnTo>
                      <a:pt x="101600" y="125919"/>
                    </a:lnTo>
                    <a:lnTo>
                      <a:pt x="0" y="251838"/>
                    </a:lnTo>
                    <a:lnTo>
                      <a:pt x="980555" y="251838"/>
                    </a:lnTo>
                    <a:lnTo>
                      <a:pt x="878955" y="125919"/>
                    </a:lnTo>
                    <a:lnTo>
                      <a:pt x="980555" y="0"/>
                    </a:lnTo>
                    <a:close/>
                  </a:path>
                </a:pathLst>
              </a:custGeom>
              <a:solidFill>
                <a:srgbClr val="EDA7A7"/>
              </a:solidFill>
            </p:spPr>
          </p:sp>
          <p:sp>
            <p:nvSpPr>
              <p:cNvPr name="TextBox 22" id="22"/>
              <p:cNvSpPr txBox="true"/>
              <p:nvPr/>
            </p:nvSpPr>
            <p:spPr>
              <a:xfrm>
                <a:off x="88900" y="0"/>
                <a:ext cx="802755" cy="251838"/>
              </a:xfrm>
              <a:prstGeom prst="rect">
                <a:avLst/>
              </a:prstGeom>
            </p:spPr>
            <p:txBody>
              <a:bodyPr anchor="ctr" rtlCol="false" tIns="50800" lIns="50800" bIns="50800" rIns="50800"/>
              <a:lstStyle/>
              <a:p>
                <a:pPr algn="ctr">
                  <a:lnSpc>
                    <a:spcPts val="3348"/>
                  </a:lnSpc>
                </a:pPr>
                <a:r>
                  <a:rPr lang="en-US" sz="2790">
                    <a:solidFill>
                      <a:srgbClr val="000000"/>
                    </a:solidFill>
                    <a:latin typeface="Circe"/>
                    <a:ea typeface="Circe"/>
                    <a:cs typeface="Circe"/>
                    <a:sym typeface="Circe"/>
                  </a:rPr>
                  <a:t>Comportamiento</a:t>
                </a:r>
              </a:p>
            </p:txBody>
          </p:sp>
        </p:grpSp>
        <p:sp>
          <p:nvSpPr>
            <p:cNvPr name="TextBox 23" id="23"/>
            <p:cNvSpPr txBox="true"/>
            <p:nvPr/>
          </p:nvSpPr>
          <p:spPr>
            <a:xfrm rot="0">
              <a:off x="2814588" y="2025482"/>
              <a:ext cx="3448844" cy="558850"/>
            </a:xfrm>
            <a:prstGeom prst="rect">
              <a:avLst/>
            </a:prstGeom>
          </p:spPr>
          <p:txBody>
            <a:bodyPr anchor="t" rtlCol="false" tIns="0" lIns="0" bIns="0" rIns="0">
              <a:spAutoFit/>
            </a:bodyPr>
            <a:lstStyle/>
            <a:p>
              <a:pPr algn="ctr" marL="602411" indent="-301206" lvl="1">
                <a:lnSpc>
                  <a:spcPts val="3348"/>
                </a:lnSpc>
                <a:buFont typeface="Arial"/>
                <a:buChar char="•"/>
              </a:pPr>
              <a:r>
                <a:rPr lang="en-US" sz="2790">
                  <a:solidFill>
                    <a:srgbClr val="000000"/>
                  </a:solidFill>
                  <a:latin typeface="Circe"/>
                  <a:ea typeface="Circe"/>
                  <a:cs typeface="Circe"/>
                  <a:sym typeface="Circe"/>
                </a:rPr>
                <a:t>Casos de uso</a:t>
              </a:r>
            </a:p>
          </p:txBody>
        </p:sp>
        <p:sp>
          <p:nvSpPr>
            <p:cNvPr name="Freeform 24" id="24"/>
            <p:cNvSpPr/>
            <p:nvPr/>
          </p:nvSpPr>
          <p:spPr>
            <a:xfrm flipH="false" flipV="false" rot="0">
              <a:off x="7073620" y="994507"/>
              <a:ext cx="4138629" cy="3179651"/>
            </a:xfrm>
            <a:custGeom>
              <a:avLst/>
              <a:gdLst/>
              <a:ahLst/>
              <a:cxnLst/>
              <a:rect r="r" b="b" t="t" l="l"/>
              <a:pathLst>
                <a:path h="3179651" w="4138629">
                  <a:moveTo>
                    <a:pt x="0" y="0"/>
                  </a:moveTo>
                  <a:lnTo>
                    <a:pt x="4138629" y="0"/>
                  </a:lnTo>
                  <a:lnTo>
                    <a:pt x="4138629" y="3179650"/>
                  </a:lnTo>
                  <a:lnTo>
                    <a:pt x="0" y="3179650"/>
                  </a:lnTo>
                  <a:lnTo>
                    <a:pt x="0" y="0"/>
                  </a:lnTo>
                  <a:close/>
                </a:path>
              </a:pathLst>
            </a:custGeom>
            <a:blipFill>
              <a:blip r:embed="rId6"/>
              <a:stretch>
                <a:fillRect l="-60824" t="-25861" r="-14299" b="-2055"/>
              </a:stretch>
            </a:blipFill>
          </p:spPr>
        </p:sp>
        <p:sp>
          <p:nvSpPr>
            <p:cNvPr name="AutoShape 25" id="25"/>
            <p:cNvSpPr/>
            <p:nvPr/>
          </p:nvSpPr>
          <p:spPr>
            <a:xfrm flipH="true">
              <a:off x="6103990" y="867316"/>
              <a:ext cx="2746276" cy="1158166"/>
            </a:xfrm>
            <a:prstGeom prst="line">
              <a:avLst/>
            </a:prstGeom>
            <a:ln cap="flat" w="127000">
              <a:solidFill>
                <a:srgbClr val="725076"/>
              </a:solidFill>
              <a:prstDash val="solid"/>
              <a:headEnd type="triangle" len="med" w="lg"/>
              <a:tailEnd type="none" len="sm" w="sm"/>
            </a:ln>
          </p:spPr>
        </p:sp>
        <p:sp>
          <p:nvSpPr>
            <p:cNvPr name="TextBox 26" id="26"/>
            <p:cNvSpPr txBox="true"/>
            <p:nvPr/>
          </p:nvSpPr>
          <p:spPr>
            <a:xfrm rot="0">
              <a:off x="0" y="2012782"/>
              <a:ext cx="2814588" cy="558850"/>
            </a:xfrm>
            <a:prstGeom prst="rect">
              <a:avLst/>
            </a:prstGeom>
          </p:spPr>
          <p:txBody>
            <a:bodyPr anchor="t" rtlCol="false" tIns="0" lIns="0" bIns="0" rIns="0">
              <a:spAutoFit/>
            </a:bodyPr>
            <a:lstStyle/>
            <a:p>
              <a:pPr algn="ctr" marL="602411" indent="-301206" lvl="1">
                <a:lnSpc>
                  <a:spcPts val="3348"/>
                </a:lnSpc>
                <a:buFont typeface="Arial"/>
                <a:buChar char="•"/>
              </a:pPr>
              <a:r>
                <a:rPr lang="en-US" sz="2790">
                  <a:solidFill>
                    <a:srgbClr val="000000"/>
                  </a:solidFill>
                  <a:latin typeface="Circe"/>
                  <a:ea typeface="Circe"/>
                  <a:cs typeface="Circe"/>
                  <a:sym typeface="Circe"/>
                </a:rPr>
                <a:t>secuencia</a:t>
              </a:r>
            </a:p>
          </p:txBody>
        </p:sp>
        <p:sp>
          <p:nvSpPr>
            <p:cNvPr name="TextBox 27" id="27"/>
            <p:cNvSpPr txBox="true"/>
            <p:nvPr/>
          </p:nvSpPr>
          <p:spPr>
            <a:xfrm rot="0">
              <a:off x="332559" y="2929293"/>
              <a:ext cx="3085703" cy="558850"/>
            </a:xfrm>
            <a:prstGeom prst="rect">
              <a:avLst/>
            </a:prstGeom>
          </p:spPr>
          <p:txBody>
            <a:bodyPr anchor="t" rtlCol="false" tIns="0" lIns="0" bIns="0" rIns="0">
              <a:spAutoFit/>
            </a:bodyPr>
            <a:lstStyle/>
            <a:p>
              <a:pPr algn="ctr" marL="602411" indent="-301206" lvl="1">
                <a:lnSpc>
                  <a:spcPts val="3348"/>
                </a:lnSpc>
                <a:buFont typeface="Arial"/>
                <a:buChar char="•"/>
              </a:pPr>
              <a:r>
                <a:rPr lang="en-US" sz="2790">
                  <a:solidFill>
                    <a:srgbClr val="000000"/>
                  </a:solidFill>
                  <a:latin typeface="Circe"/>
                  <a:ea typeface="Circe"/>
                  <a:cs typeface="Circe"/>
                  <a:sym typeface="Circe"/>
                </a:rPr>
                <a:t>actividades</a:t>
              </a:r>
            </a:p>
          </p:txBody>
        </p:sp>
        <p:sp>
          <p:nvSpPr>
            <p:cNvPr name="TextBox 28" id="28"/>
            <p:cNvSpPr txBox="true"/>
            <p:nvPr/>
          </p:nvSpPr>
          <p:spPr>
            <a:xfrm rot="0">
              <a:off x="3478686" y="2948631"/>
              <a:ext cx="2368104" cy="558850"/>
            </a:xfrm>
            <a:prstGeom prst="rect">
              <a:avLst/>
            </a:prstGeom>
          </p:spPr>
          <p:txBody>
            <a:bodyPr anchor="t" rtlCol="false" tIns="0" lIns="0" bIns="0" rIns="0">
              <a:spAutoFit/>
            </a:bodyPr>
            <a:lstStyle/>
            <a:p>
              <a:pPr algn="ctr" marL="602411" indent="-301206" lvl="1">
                <a:lnSpc>
                  <a:spcPts val="3348"/>
                </a:lnSpc>
                <a:buFont typeface="Arial"/>
                <a:buChar char="•"/>
              </a:pPr>
              <a:r>
                <a:rPr lang="en-US" sz="2790">
                  <a:solidFill>
                    <a:srgbClr val="000000"/>
                  </a:solidFill>
                  <a:latin typeface="Circe"/>
                  <a:ea typeface="Circe"/>
                  <a:cs typeface="Circe"/>
                  <a:sym typeface="Circe"/>
                </a:rPr>
                <a:t>estados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2"/>
            <a:stretch>
              <a:fillRect l="0" t="0" r="0" b="0"/>
            </a:stretch>
          </a:blipFill>
        </p:spPr>
      </p:sp>
      <p:sp>
        <p:nvSpPr>
          <p:cNvPr name="Freeform 3" id="3"/>
          <p:cNvSpPr/>
          <p:nvPr/>
        </p:nvSpPr>
        <p:spPr>
          <a:xfrm flipH="false" flipV="false" rot="0">
            <a:off x="13605178" y="5734314"/>
            <a:ext cx="4005731" cy="4233251"/>
          </a:xfrm>
          <a:custGeom>
            <a:avLst/>
            <a:gdLst/>
            <a:ahLst/>
            <a:cxnLst/>
            <a:rect r="r" b="b" t="t" l="l"/>
            <a:pathLst>
              <a:path h="4233251" w="4005731">
                <a:moveTo>
                  <a:pt x="0" y="0"/>
                </a:moveTo>
                <a:lnTo>
                  <a:pt x="4005731" y="0"/>
                </a:lnTo>
                <a:lnTo>
                  <a:pt x="4005731" y="4233251"/>
                </a:lnTo>
                <a:lnTo>
                  <a:pt x="0" y="4233251"/>
                </a:lnTo>
                <a:lnTo>
                  <a:pt x="0" y="0"/>
                </a:lnTo>
                <a:close/>
              </a:path>
            </a:pathLst>
          </a:custGeom>
          <a:blipFill>
            <a:blip r:embed="rId3"/>
            <a:stretch>
              <a:fillRect l="0" t="0" r="0" b="0"/>
            </a:stretch>
          </a:blipFill>
        </p:spPr>
      </p:sp>
      <p:grpSp>
        <p:nvGrpSpPr>
          <p:cNvPr name="Group 4" id="4"/>
          <p:cNvGrpSpPr/>
          <p:nvPr/>
        </p:nvGrpSpPr>
        <p:grpSpPr>
          <a:xfrm rot="0">
            <a:off x="1771737" y="6950715"/>
            <a:ext cx="11833442" cy="2774695"/>
            <a:chOff x="0" y="0"/>
            <a:chExt cx="3116627" cy="730784"/>
          </a:xfrm>
        </p:grpSpPr>
        <p:sp>
          <p:nvSpPr>
            <p:cNvPr name="Freeform 5" id="5"/>
            <p:cNvSpPr/>
            <p:nvPr/>
          </p:nvSpPr>
          <p:spPr>
            <a:xfrm flipH="false" flipV="false" rot="0">
              <a:off x="0" y="0"/>
              <a:ext cx="3116627" cy="730784"/>
            </a:xfrm>
            <a:custGeom>
              <a:avLst/>
              <a:gdLst/>
              <a:ahLst/>
              <a:cxnLst/>
              <a:rect r="r" b="b" t="t" l="l"/>
              <a:pathLst>
                <a:path h="730784" w="3116627">
                  <a:moveTo>
                    <a:pt x="11122" y="0"/>
                  </a:moveTo>
                  <a:lnTo>
                    <a:pt x="3105505" y="0"/>
                  </a:lnTo>
                  <a:cubicBezTo>
                    <a:pt x="3111647" y="0"/>
                    <a:pt x="3116627" y="4980"/>
                    <a:pt x="3116627" y="11122"/>
                  </a:cubicBezTo>
                  <a:lnTo>
                    <a:pt x="3116627" y="719662"/>
                  </a:lnTo>
                  <a:cubicBezTo>
                    <a:pt x="3116627" y="725804"/>
                    <a:pt x="3111647" y="730784"/>
                    <a:pt x="3105505" y="730784"/>
                  </a:cubicBezTo>
                  <a:lnTo>
                    <a:pt x="11122" y="730784"/>
                  </a:lnTo>
                  <a:cubicBezTo>
                    <a:pt x="8172" y="730784"/>
                    <a:pt x="5343" y="729612"/>
                    <a:pt x="3258" y="727526"/>
                  </a:cubicBezTo>
                  <a:cubicBezTo>
                    <a:pt x="1172" y="725441"/>
                    <a:pt x="0" y="722612"/>
                    <a:pt x="0" y="719662"/>
                  </a:cubicBezTo>
                  <a:lnTo>
                    <a:pt x="0" y="11122"/>
                  </a:lnTo>
                  <a:cubicBezTo>
                    <a:pt x="0" y="4980"/>
                    <a:pt x="4980" y="0"/>
                    <a:pt x="11122" y="0"/>
                  </a:cubicBezTo>
                  <a:close/>
                </a:path>
              </a:pathLst>
            </a:custGeom>
            <a:solidFill>
              <a:srgbClr val="FFFFFF"/>
            </a:solidFill>
          </p:spPr>
        </p:sp>
        <p:sp>
          <p:nvSpPr>
            <p:cNvPr name="TextBox 6" id="6"/>
            <p:cNvSpPr txBox="true"/>
            <p:nvPr/>
          </p:nvSpPr>
          <p:spPr>
            <a:xfrm>
              <a:off x="0" y="-38100"/>
              <a:ext cx="3116627" cy="768884"/>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771737" y="6960240"/>
            <a:ext cx="11833442" cy="1790923"/>
          </a:xfrm>
          <a:prstGeom prst="rect">
            <a:avLst/>
          </a:prstGeom>
        </p:spPr>
        <p:txBody>
          <a:bodyPr anchor="t" rtlCol="false" tIns="0" lIns="0" bIns="0" rIns="0">
            <a:spAutoFit/>
          </a:bodyPr>
          <a:lstStyle/>
          <a:p>
            <a:pPr algn="l" marL="863510" indent="-431755" lvl="1">
              <a:lnSpc>
                <a:spcPts val="4799"/>
              </a:lnSpc>
              <a:buFont typeface="Arial"/>
              <a:buChar char="•"/>
            </a:pPr>
            <a:r>
              <a:rPr lang="en-US" b="true" sz="3999">
                <a:solidFill>
                  <a:srgbClr val="000000"/>
                </a:solidFill>
                <a:latin typeface="Circe Bold"/>
                <a:ea typeface="Circe Bold"/>
                <a:cs typeface="Circe Bold"/>
                <a:sym typeface="Circe Bold"/>
              </a:rPr>
              <a:t>Clases</a:t>
            </a:r>
            <a:r>
              <a:rPr lang="en-US" sz="3999">
                <a:solidFill>
                  <a:srgbClr val="000000"/>
                </a:solidFill>
                <a:latin typeface="Circe"/>
                <a:ea typeface="Circe"/>
                <a:cs typeface="Circe"/>
                <a:sym typeface="Circe"/>
              </a:rPr>
              <a:t>, que conforman el modelo</a:t>
            </a:r>
          </a:p>
          <a:p>
            <a:pPr algn="l" marL="863510" indent="-431755" lvl="1">
              <a:lnSpc>
                <a:spcPts val="4799"/>
              </a:lnSpc>
              <a:buFont typeface="Arial"/>
              <a:buChar char="•"/>
            </a:pPr>
            <a:r>
              <a:rPr lang="en-US" b="true" sz="3999">
                <a:solidFill>
                  <a:srgbClr val="000000"/>
                </a:solidFill>
                <a:latin typeface="Circe Bold"/>
                <a:ea typeface="Circe Bold"/>
                <a:cs typeface="Circe Bold"/>
                <a:sym typeface="Circe Bold"/>
              </a:rPr>
              <a:t>Relaciones</a:t>
            </a:r>
            <a:r>
              <a:rPr lang="en-US" sz="3999">
                <a:solidFill>
                  <a:srgbClr val="000000"/>
                </a:solidFill>
                <a:latin typeface="Circe"/>
                <a:ea typeface="Circe"/>
                <a:cs typeface="Circe"/>
                <a:sym typeface="Circe"/>
              </a:rPr>
              <a:t>, que unen clases y representan la comunicación de los objetos de cada una de estas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AutoShape 3" id="3"/>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4" id="4"/>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5" id="5"/>
          <p:cNvSpPr/>
          <p:nvPr/>
        </p:nvSpPr>
        <p:spPr>
          <a:xfrm rot="0">
            <a:off x="-422728" y="9424655"/>
            <a:ext cx="19821877" cy="0"/>
          </a:xfrm>
          <a:prstGeom prst="line">
            <a:avLst/>
          </a:prstGeom>
          <a:ln cap="flat" w="114300">
            <a:solidFill>
              <a:srgbClr val="FFFFFF"/>
            </a:solidFill>
            <a:prstDash val="solid"/>
            <a:headEnd type="none" len="sm" w="sm"/>
            <a:tailEnd type="none" len="sm" w="sm"/>
          </a:ln>
        </p:spPr>
      </p:sp>
      <p:sp>
        <p:nvSpPr>
          <p:cNvPr name="Freeform 6" id="6"/>
          <p:cNvSpPr/>
          <p:nvPr/>
        </p:nvSpPr>
        <p:spPr>
          <a:xfrm flipH="false" flipV="false" rot="0">
            <a:off x="0" y="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328731" cy="10287000"/>
          </a:xfrm>
          <a:custGeom>
            <a:avLst/>
            <a:gdLst/>
            <a:ahLst/>
            <a:cxnLst/>
            <a:rect r="r" b="b" t="t" l="l"/>
            <a:pathLst>
              <a:path h="10287000" w="18328731">
                <a:moveTo>
                  <a:pt x="0" y="0"/>
                </a:moveTo>
                <a:lnTo>
                  <a:pt x="18328731" y="0"/>
                </a:lnTo>
                <a:lnTo>
                  <a:pt x="18328731"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756339" y="4587717"/>
            <a:ext cx="1814801" cy="1111566"/>
          </a:xfrm>
          <a:custGeom>
            <a:avLst/>
            <a:gdLst/>
            <a:ahLst/>
            <a:cxnLst/>
            <a:rect r="r" b="b" t="t" l="l"/>
            <a:pathLst>
              <a:path h="1111566" w="1814801">
                <a:moveTo>
                  <a:pt x="0" y="0"/>
                </a:moveTo>
                <a:lnTo>
                  <a:pt x="1814801" y="0"/>
                </a:lnTo>
                <a:lnTo>
                  <a:pt x="1814801" y="1111566"/>
                </a:lnTo>
                <a:lnTo>
                  <a:pt x="0" y="1111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348655" y="4521592"/>
            <a:ext cx="873633" cy="1177691"/>
          </a:xfrm>
          <a:custGeom>
            <a:avLst/>
            <a:gdLst/>
            <a:ahLst/>
            <a:cxnLst/>
            <a:rect r="r" b="b" t="t" l="l"/>
            <a:pathLst>
              <a:path h="1177691" w="873633">
                <a:moveTo>
                  <a:pt x="0" y="0"/>
                </a:moveTo>
                <a:lnTo>
                  <a:pt x="873633" y="0"/>
                </a:lnTo>
                <a:lnTo>
                  <a:pt x="873633" y="1177691"/>
                </a:lnTo>
                <a:lnTo>
                  <a:pt x="0" y="11776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755717" y="4554654"/>
            <a:ext cx="1200683" cy="1177691"/>
          </a:xfrm>
          <a:custGeom>
            <a:avLst/>
            <a:gdLst/>
            <a:ahLst/>
            <a:cxnLst/>
            <a:rect r="r" b="b" t="t" l="l"/>
            <a:pathLst>
              <a:path h="1177691" w="1200683">
                <a:moveTo>
                  <a:pt x="0" y="0"/>
                </a:moveTo>
                <a:lnTo>
                  <a:pt x="1200682" y="0"/>
                </a:lnTo>
                <a:lnTo>
                  <a:pt x="1200682" y="1177692"/>
                </a:lnTo>
                <a:lnTo>
                  <a:pt x="0" y="117769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986477"/>
            <a:ext cx="18520777" cy="18520777"/>
          </a:xfrm>
          <a:custGeom>
            <a:avLst/>
            <a:gdLst/>
            <a:ahLst/>
            <a:cxnLst/>
            <a:rect r="r" b="b" t="t" l="l"/>
            <a:pathLst>
              <a:path h="18520777" w="18520777">
                <a:moveTo>
                  <a:pt x="0" y="0"/>
                </a:moveTo>
                <a:lnTo>
                  <a:pt x="18520777" y="0"/>
                </a:lnTo>
                <a:lnTo>
                  <a:pt x="18520777" y="18520777"/>
                </a:lnTo>
                <a:lnTo>
                  <a:pt x="0" y="185207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187598" y="-3042541"/>
            <a:ext cx="6085082" cy="6085082"/>
            <a:chOff x="0" y="0"/>
            <a:chExt cx="6355080" cy="6355080"/>
          </a:xfrm>
        </p:grpSpPr>
        <p:sp>
          <p:nvSpPr>
            <p:cNvPr name="Freeform 4" id="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5" id="5"/>
          <p:cNvGrpSpPr/>
          <p:nvPr/>
        </p:nvGrpSpPr>
        <p:grpSpPr>
          <a:xfrm rot="0">
            <a:off x="1854943" y="3457204"/>
            <a:ext cx="4410080" cy="3200968"/>
            <a:chOff x="0" y="0"/>
            <a:chExt cx="5880107" cy="4267958"/>
          </a:xfrm>
        </p:grpSpPr>
        <p:sp>
          <p:nvSpPr>
            <p:cNvPr name="Freeform 6" id="6"/>
            <p:cNvSpPr/>
            <p:nvPr/>
          </p:nvSpPr>
          <p:spPr>
            <a:xfrm flipH="false" flipV="false" rot="5400000">
              <a:off x="2297887" y="688855"/>
              <a:ext cx="1281217" cy="5876990"/>
            </a:xfrm>
            <a:custGeom>
              <a:avLst/>
              <a:gdLst/>
              <a:ahLst/>
              <a:cxnLst/>
              <a:rect r="r" b="b" t="t" l="l"/>
              <a:pathLst>
                <a:path h="5876990" w="1281217">
                  <a:moveTo>
                    <a:pt x="0" y="0"/>
                  </a:moveTo>
                  <a:lnTo>
                    <a:pt x="1281216" y="0"/>
                  </a:lnTo>
                  <a:lnTo>
                    <a:pt x="1281216" y="5876989"/>
                  </a:lnTo>
                  <a:lnTo>
                    <a:pt x="0" y="5876989"/>
                  </a:lnTo>
                  <a:lnTo>
                    <a:pt x="0" y="0"/>
                  </a:lnTo>
                  <a:close/>
                </a:path>
              </a:pathLst>
            </a:custGeom>
            <a:blipFill>
              <a:blip r:embed="rId4"/>
              <a:stretch>
                <a:fillRect l="-40593" t="0" r="-40593" b="0"/>
              </a:stretch>
            </a:blipFill>
          </p:spPr>
        </p:sp>
        <p:grpSp>
          <p:nvGrpSpPr>
            <p:cNvPr name="Group 7" id="7"/>
            <p:cNvGrpSpPr/>
            <p:nvPr/>
          </p:nvGrpSpPr>
          <p:grpSpPr>
            <a:xfrm rot="0">
              <a:off x="3117" y="0"/>
              <a:ext cx="5876990" cy="3890746"/>
              <a:chOff x="0" y="0"/>
              <a:chExt cx="2442059" cy="1616717"/>
            </a:xfrm>
          </p:grpSpPr>
          <p:sp>
            <p:nvSpPr>
              <p:cNvPr name="Freeform 8" id="8"/>
              <p:cNvSpPr/>
              <p:nvPr/>
            </p:nvSpPr>
            <p:spPr>
              <a:xfrm flipH="false" flipV="false" rot="0">
                <a:off x="0" y="0"/>
                <a:ext cx="2442059" cy="1616717"/>
              </a:xfrm>
              <a:custGeom>
                <a:avLst/>
                <a:gdLst/>
                <a:ahLst/>
                <a:cxnLst/>
                <a:rect r="r" b="b" t="t" l="l"/>
                <a:pathLst>
                  <a:path h="1616717" w="2442059">
                    <a:moveTo>
                      <a:pt x="2317599" y="1616717"/>
                    </a:moveTo>
                    <a:lnTo>
                      <a:pt x="124460" y="1616717"/>
                    </a:lnTo>
                    <a:cubicBezTo>
                      <a:pt x="55880" y="1616717"/>
                      <a:pt x="0" y="1560837"/>
                      <a:pt x="0" y="1492257"/>
                    </a:cubicBezTo>
                    <a:lnTo>
                      <a:pt x="0" y="124460"/>
                    </a:lnTo>
                    <a:cubicBezTo>
                      <a:pt x="0" y="55880"/>
                      <a:pt x="55880" y="0"/>
                      <a:pt x="124460" y="0"/>
                    </a:cubicBezTo>
                    <a:lnTo>
                      <a:pt x="2317599" y="0"/>
                    </a:lnTo>
                    <a:cubicBezTo>
                      <a:pt x="2386179" y="0"/>
                      <a:pt x="2442059" y="55880"/>
                      <a:pt x="2442059" y="124460"/>
                    </a:cubicBezTo>
                    <a:lnTo>
                      <a:pt x="2442059" y="1492257"/>
                    </a:lnTo>
                    <a:cubicBezTo>
                      <a:pt x="2442059" y="1560837"/>
                      <a:pt x="2386179" y="1616717"/>
                      <a:pt x="2317599" y="1616717"/>
                    </a:cubicBezTo>
                    <a:close/>
                  </a:path>
                </a:pathLst>
              </a:custGeom>
              <a:solidFill>
                <a:srgbClr val="F6EEE8"/>
              </a:solidFill>
            </p:spPr>
          </p:sp>
        </p:grpSp>
      </p:grpSp>
      <p:grpSp>
        <p:nvGrpSpPr>
          <p:cNvPr name="Group 9" id="9"/>
          <p:cNvGrpSpPr/>
          <p:nvPr/>
        </p:nvGrpSpPr>
        <p:grpSpPr>
          <a:xfrm rot="0">
            <a:off x="6938960" y="6658173"/>
            <a:ext cx="4410080" cy="3199643"/>
            <a:chOff x="0" y="0"/>
            <a:chExt cx="5880107" cy="4266191"/>
          </a:xfrm>
        </p:grpSpPr>
        <p:sp>
          <p:nvSpPr>
            <p:cNvPr name="Freeform 10" id="10"/>
            <p:cNvSpPr/>
            <p:nvPr/>
          </p:nvSpPr>
          <p:spPr>
            <a:xfrm flipH="false" flipV="false" rot="5400000">
              <a:off x="2298152" y="687353"/>
              <a:ext cx="1280686" cy="5876990"/>
            </a:xfrm>
            <a:custGeom>
              <a:avLst/>
              <a:gdLst/>
              <a:ahLst/>
              <a:cxnLst/>
              <a:rect r="r" b="b" t="t" l="l"/>
              <a:pathLst>
                <a:path h="5876990" w="1280686">
                  <a:moveTo>
                    <a:pt x="0" y="0"/>
                  </a:moveTo>
                  <a:lnTo>
                    <a:pt x="1280686" y="0"/>
                  </a:lnTo>
                  <a:lnTo>
                    <a:pt x="1280686" y="5876990"/>
                  </a:lnTo>
                  <a:lnTo>
                    <a:pt x="0" y="5876990"/>
                  </a:lnTo>
                  <a:lnTo>
                    <a:pt x="0" y="0"/>
                  </a:lnTo>
                  <a:close/>
                </a:path>
              </a:pathLst>
            </a:custGeom>
            <a:blipFill>
              <a:blip r:embed="rId4"/>
              <a:stretch>
                <a:fillRect l="-40631" t="0" r="-40631" b="0"/>
              </a:stretch>
            </a:blipFill>
          </p:spPr>
        </p:sp>
        <p:grpSp>
          <p:nvGrpSpPr>
            <p:cNvPr name="Group 11" id="11"/>
            <p:cNvGrpSpPr/>
            <p:nvPr/>
          </p:nvGrpSpPr>
          <p:grpSpPr>
            <a:xfrm rot="0">
              <a:off x="3117" y="0"/>
              <a:ext cx="5876990" cy="3889135"/>
              <a:chOff x="0" y="0"/>
              <a:chExt cx="2442059" cy="1616048"/>
            </a:xfrm>
          </p:grpSpPr>
          <p:sp>
            <p:nvSpPr>
              <p:cNvPr name="Freeform 12" id="12"/>
              <p:cNvSpPr/>
              <p:nvPr/>
            </p:nvSpPr>
            <p:spPr>
              <a:xfrm flipH="false" flipV="false" rot="0">
                <a:off x="0" y="0"/>
                <a:ext cx="2442059" cy="1616048"/>
              </a:xfrm>
              <a:custGeom>
                <a:avLst/>
                <a:gdLst/>
                <a:ahLst/>
                <a:cxnLst/>
                <a:rect r="r" b="b" t="t" l="l"/>
                <a:pathLst>
                  <a:path h="1616048" w="2442059">
                    <a:moveTo>
                      <a:pt x="2317599" y="1616048"/>
                    </a:moveTo>
                    <a:lnTo>
                      <a:pt x="124460" y="1616048"/>
                    </a:lnTo>
                    <a:cubicBezTo>
                      <a:pt x="55880" y="1616048"/>
                      <a:pt x="0" y="1560168"/>
                      <a:pt x="0" y="1491588"/>
                    </a:cubicBezTo>
                    <a:lnTo>
                      <a:pt x="0" y="124460"/>
                    </a:lnTo>
                    <a:cubicBezTo>
                      <a:pt x="0" y="55880"/>
                      <a:pt x="55880" y="0"/>
                      <a:pt x="124460" y="0"/>
                    </a:cubicBezTo>
                    <a:lnTo>
                      <a:pt x="2317599" y="0"/>
                    </a:lnTo>
                    <a:cubicBezTo>
                      <a:pt x="2386179" y="0"/>
                      <a:pt x="2442059" y="55880"/>
                      <a:pt x="2442059" y="124460"/>
                    </a:cubicBezTo>
                    <a:lnTo>
                      <a:pt x="2442059" y="1491588"/>
                    </a:lnTo>
                    <a:cubicBezTo>
                      <a:pt x="2442059" y="1560168"/>
                      <a:pt x="2386179" y="1616048"/>
                      <a:pt x="2317599" y="1616048"/>
                    </a:cubicBezTo>
                    <a:close/>
                  </a:path>
                </a:pathLst>
              </a:custGeom>
              <a:solidFill>
                <a:srgbClr val="F6EEE8"/>
              </a:solidFill>
            </p:spPr>
          </p:sp>
        </p:grpSp>
      </p:grpSp>
      <p:sp>
        <p:nvSpPr>
          <p:cNvPr name="Freeform 13" id="13"/>
          <p:cNvSpPr/>
          <p:nvPr/>
        </p:nvSpPr>
        <p:spPr>
          <a:xfrm flipH="false" flipV="false" rot="5400000">
            <a:off x="3591389" y="7174814"/>
            <a:ext cx="960913" cy="4407742"/>
          </a:xfrm>
          <a:custGeom>
            <a:avLst/>
            <a:gdLst/>
            <a:ahLst/>
            <a:cxnLst/>
            <a:rect r="r" b="b" t="t" l="l"/>
            <a:pathLst>
              <a:path h="4407742" w="960913">
                <a:moveTo>
                  <a:pt x="0" y="0"/>
                </a:moveTo>
                <a:lnTo>
                  <a:pt x="960913" y="0"/>
                </a:lnTo>
                <a:lnTo>
                  <a:pt x="960913" y="4407742"/>
                </a:lnTo>
                <a:lnTo>
                  <a:pt x="0" y="4407742"/>
                </a:lnTo>
                <a:lnTo>
                  <a:pt x="0" y="0"/>
                </a:lnTo>
                <a:close/>
              </a:path>
            </a:pathLst>
          </a:custGeom>
          <a:blipFill>
            <a:blip r:embed="rId4"/>
            <a:stretch>
              <a:fillRect l="-40593" t="0" r="-40593" b="0"/>
            </a:stretch>
          </a:blipFill>
        </p:spPr>
      </p:sp>
      <p:grpSp>
        <p:nvGrpSpPr>
          <p:cNvPr name="Group 14" id="14"/>
          <p:cNvGrpSpPr/>
          <p:nvPr/>
        </p:nvGrpSpPr>
        <p:grpSpPr>
          <a:xfrm rot="0">
            <a:off x="1870312" y="6658173"/>
            <a:ext cx="4407742" cy="2918059"/>
            <a:chOff x="0" y="0"/>
            <a:chExt cx="2442059" cy="1616717"/>
          </a:xfrm>
        </p:grpSpPr>
        <p:sp>
          <p:nvSpPr>
            <p:cNvPr name="Freeform 15" id="15"/>
            <p:cNvSpPr/>
            <p:nvPr/>
          </p:nvSpPr>
          <p:spPr>
            <a:xfrm flipH="false" flipV="false" rot="0">
              <a:off x="0" y="0"/>
              <a:ext cx="2442059" cy="1616717"/>
            </a:xfrm>
            <a:custGeom>
              <a:avLst/>
              <a:gdLst/>
              <a:ahLst/>
              <a:cxnLst/>
              <a:rect r="r" b="b" t="t" l="l"/>
              <a:pathLst>
                <a:path h="1616717" w="2442059">
                  <a:moveTo>
                    <a:pt x="2317599" y="1616717"/>
                  </a:moveTo>
                  <a:lnTo>
                    <a:pt x="124460" y="1616717"/>
                  </a:lnTo>
                  <a:cubicBezTo>
                    <a:pt x="55880" y="1616717"/>
                    <a:pt x="0" y="1560837"/>
                    <a:pt x="0" y="1492257"/>
                  </a:cubicBezTo>
                  <a:lnTo>
                    <a:pt x="0" y="124460"/>
                  </a:lnTo>
                  <a:cubicBezTo>
                    <a:pt x="0" y="55880"/>
                    <a:pt x="55880" y="0"/>
                    <a:pt x="124460" y="0"/>
                  </a:cubicBezTo>
                  <a:lnTo>
                    <a:pt x="2317599" y="0"/>
                  </a:lnTo>
                  <a:cubicBezTo>
                    <a:pt x="2386179" y="0"/>
                    <a:pt x="2442059" y="55880"/>
                    <a:pt x="2442059" y="124460"/>
                  </a:cubicBezTo>
                  <a:lnTo>
                    <a:pt x="2442059" y="1492257"/>
                  </a:lnTo>
                  <a:cubicBezTo>
                    <a:pt x="2442059" y="1560837"/>
                    <a:pt x="2386179" y="1616717"/>
                    <a:pt x="2317599" y="1616717"/>
                  </a:cubicBezTo>
                  <a:close/>
                </a:path>
              </a:pathLst>
            </a:custGeom>
            <a:solidFill>
              <a:srgbClr val="F6EEE8"/>
            </a:solidFill>
          </p:spPr>
        </p:sp>
      </p:grpSp>
      <p:grpSp>
        <p:nvGrpSpPr>
          <p:cNvPr name="Group 16" id="16"/>
          <p:cNvGrpSpPr>
            <a:grpSpLocks noChangeAspect="true"/>
          </p:cNvGrpSpPr>
          <p:nvPr/>
        </p:nvGrpSpPr>
        <p:grpSpPr>
          <a:xfrm rot="0">
            <a:off x="11045288" y="8911115"/>
            <a:ext cx="5246370" cy="5246370"/>
            <a:chOff x="0" y="0"/>
            <a:chExt cx="6355080" cy="6355080"/>
          </a:xfrm>
        </p:grpSpPr>
        <p:sp>
          <p:nvSpPr>
            <p:cNvPr name="Freeform 17" id="1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EDA7A7">
                <a:alpha val="40000"/>
              </a:srgbClr>
            </a:solidFill>
          </p:spPr>
        </p:sp>
      </p:grpSp>
      <p:grpSp>
        <p:nvGrpSpPr>
          <p:cNvPr name="Group 18" id="18"/>
          <p:cNvGrpSpPr/>
          <p:nvPr/>
        </p:nvGrpSpPr>
        <p:grpSpPr>
          <a:xfrm rot="0">
            <a:off x="6938960" y="3382683"/>
            <a:ext cx="4410080" cy="3199643"/>
            <a:chOff x="0" y="0"/>
            <a:chExt cx="5880107" cy="4266191"/>
          </a:xfrm>
        </p:grpSpPr>
        <p:sp>
          <p:nvSpPr>
            <p:cNvPr name="Freeform 19" id="19"/>
            <p:cNvSpPr/>
            <p:nvPr/>
          </p:nvSpPr>
          <p:spPr>
            <a:xfrm flipH="false" flipV="false" rot="5400000">
              <a:off x="2298152" y="687353"/>
              <a:ext cx="1280686" cy="5876990"/>
            </a:xfrm>
            <a:custGeom>
              <a:avLst/>
              <a:gdLst/>
              <a:ahLst/>
              <a:cxnLst/>
              <a:rect r="r" b="b" t="t" l="l"/>
              <a:pathLst>
                <a:path h="5876990" w="1280686">
                  <a:moveTo>
                    <a:pt x="0" y="0"/>
                  </a:moveTo>
                  <a:lnTo>
                    <a:pt x="1280686" y="0"/>
                  </a:lnTo>
                  <a:lnTo>
                    <a:pt x="1280686" y="5876990"/>
                  </a:lnTo>
                  <a:lnTo>
                    <a:pt x="0" y="5876990"/>
                  </a:lnTo>
                  <a:lnTo>
                    <a:pt x="0" y="0"/>
                  </a:lnTo>
                  <a:close/>
                </a:path>
              </a:pathLst>
            </a:custGeom>
            <a:blipFill>
              <a:blip r:embed="rId4"/>
              <a:stretch>
                <a:fillRect l="-40631" t="0" r="-40631" b="0"/>
              </a:stretch>
            </a:blipFill>
          </p:spPr>
        </p:sp>
        <p:grpSp>
          <p:nvGrpSpPr>
            <p:cNvPr name="Group 20" id="20"/>
            <p:cNvGrpSpPr/>
            <p:nvPr/>
          </p:nvGrpSpPr>
          <p:grpSpPr>
            <a:xfrm rot="0">
              <a:off x="3117" y="0"/>
              <a:ext cx="5876990" cy="3889135"/>
              <a:chOff x="0" y="0"/>
              <a:chExt cx="2442059" cy="1616048"/>
            </a:xfrm>
          </p:grpSpPr>
          <p:sp>
            <p:nvSpPr>
              <p:cNvPr name="Freeform 21" id="21"/>
              <p:cNvSpPr/>
              <p:nvPr/>
            </p:nvSpPr>
            <p:spPr>
              <a:xfrm flipH="false" flipV="false" rot="0">
                <a:off x="0" y="0"/>
                <a:ext cx="2442059" cy="1616048"/>
              </a:xfrm>
              <a:custGeom>
                <a:avLst/>
                <a:gdLst/>
                <a:ahLst/>
                <a:cxnLst/>
                <a:rect r="r" b="b" t="t" l="l"/>
                <a:pathLst>
                  <a:path h="1616048" w="2442059">
                    <a:moveTo>
                      <a:pt x="2317599" y="1616048"/>
                    </a:moveTo>
                    <a:lnTo>
                      <a:pt x="124460" y="1616048"/>
                    </a:lnTo>
                    <a:cubicBezTo>
                      <a:pt x="55880" y="1616048"/>
                      <a:pt x="0" y="1560168"/>
                      <a:pt x="0" y="1491588"/>
                    </a:cubicBezTo>
                    <a:lnTo>
                      <a:pt x="0" y="124460"/>
                    </a:lnTo>
                    <a:cubicBezTo>
                      <a:pt x="0" y="55880"/>
                      <a:pt x="55880" y="0"/>
                      <a:pt x="124460" y="0"/>
                    </a:cubicBezTo>
                    <a:lnTo>
                      <a:pt x="2317599" y="0"/>
                    </a:lnTo>
                    <a:cubicBezTo>
                      <a:pt x="2386179" y="0"/>
                      <a:pt x="2442059" y="55880"/>
                      <a:pt x="2442059" y="124460"/>
                    </a:cubicBezTo>
                    <a:lnTo>
                      <a:pt x="2442059" y="1491588"/>
                    </a:lnTo>
                    <a:cubicBezTo>
                      <a:pt x="2442059" y="1560168"/>
                      <a:pt x="2386179" y="1616048"/>
                      <a:pt x="2317599" y="1616048"/>
                    </a:cubicBezTo>
                    <a:close/>
                  </a:path>
                </a:pathLst>
              </a:custGeom>
              <a:solidFill>
                <a:srgbClr val="F6EEE8"/>
              </a:solidFill>
            </p:spPr>
          </p:sp>
        </p:grpSp>
      </p:grpSp>
      <p:sp>
        <p:nvSpPr>
          <p:cNvPr name="Freeform 22" id="22"/>
          <p:cNvSpPr/>
          <p:nvPr/>
        </p:nvSpPr>
        <p:spPr>
          <a:xfrm flipH="false" flipV="false" rot="0">
            <a:off x="12006265" y="4635664"/>
            <a:ext cx="5721714" cy="3877644"/>
          </a:xfrm>
          <a:custGeom>
            <a:avLst/>
            <a:gdLst/>
            <a:ahLst/>
            <a:cxnLst/>
            <a:rect r="r" b="b" t="t" l="l"/>
            <a:pathLst>
              <a:path h="3877644" w="5721714">
                <a:moveTo>
                  <a:pt x="0" y="0"/>
                </a:moveTo>
                <a:lnTo>
                  <a:pt x="5721714" y="0"/>
                </a:lnTo>
                <a:lnTo>
                  <a:pt x="5721714" y="3877644"/>
                </a:lnTo>
                <a:lnTo>
                  <a:pt x="0" y="3877644"/>
                </a:lnTo>
                <a:lnTo>
                  <a:pt x="0" y="0"/>
                </a:lnTo>
                <a:close/>
              </a:path>
            </a:pathLst>
          </a:custGeom>
          <a:blipFill>
            <a:blip r:embed="rId5"/>
            <a:stretch>
              <a:fillRect l="-7488" t="-55483" r="-182201" b="-119691"/>
            </a:stretch>
          </a:blipFill>
          <a:ln w="28575" cap="rnd">
            <a:solidFill>
              <a:srgbClr val="D8CACA"/>
            </a:solidFill>
            <a:prstDash val="solid"/>
            <a:round/>
          </a:ln>
        </p:spPr>
      </p:sp>
      <p:sp>
        <p:nvSpPr>
          <p:cNvPr name="TextBox 23" id="23"/>
          <p:cNvSpPr txBox="true"/>
          <p:nvPr/>
        </p:nvSpPr>
        <p:spPr>
          <a:xfrm rot="0">
            <a:off x="1867974" y="1250989"/>
            <a:ext cx="14552052" cy="1514475"/>
          </a:xfrm>
          <a:prstGeom prst="rect">
            <a:avLst/>
          </a:prstGeom>
        </p:spPr>
        <p:txBody>
          <a:bodyPr anchor="t" rtlCol="false" tIns="0" lIns="0" bIns="0" rIns="0">
            <a:spAutoFit/>
          </a:bodyPr>
          <a:lstStyle/>
          <a:p>
            <a:pPr algn="ctr" marL="0" indent="0" lvl="0">
              <a:lnSpc>
                <a:spcPts val="11999"/>
              </a:lnSpc>
              <a:spcBef>
                <a:spcPct val="0"/>
              </a:spcBef>
            </a:pPr>
            <a:r>
              <a:rPr lang="en-US" sz="9999">
                <a:solidFill>
                  <a:srgbClr val="412D44"/>
                </a:solidFill>
                <a:latin typeface="Circe Contrast"/>
                <a:ea typeface="Circe Contrast"/>
                <a:cs typeface="Circe Contrast"/>
                <a:sym typeface="Circe Contrast"/>
              </a:rPr>
              <a:t>Relaciones entre clases</a:t>
            </a:r>
          </a:p>
        </p:txBody>
      </p:sp>
      <p:sp>
        <p:nvSpPr>
          <p:cNvPr name="TextBox 24" id="24"/>
          <p:cNvSpPr txBox="true"/>
          <p:nvPr/>
        </p:nvSpPr>
        <p:spPr>
          <a:xfrm rot="0">
            <a:off x="2159863" y="4003682"/>
            <a:ext cx="3800238" cy="440358"/>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rPr>
              <a:t>ASOCIACION</a:t>
            </a:r>
          </a:p>
        </p:txBody>
      </p:sp>
      <p:sp>
        <p:nvSpPr>
          <p:cNvPr name="TextBox 25" id="25"/>
          <p:cNvSpPr txBox="true"/>
          <p:nvPr/>
        </p:nvSpPr>
        <p:spPr>
          <a:xfrm rot="0">
            <a:off x="2231339" y="4768830"/>
            <a:ext cx="3685688" cy="1381590"/>
          </a:xfrm>
          <a:prstGeom prst="rect">
            <a:avLst/>
          </a:prstGeom>
        </p:spPr>
        <p:txBody>
          <a:bodyPr anchor="t" rtlCol="false" tIns="0" lIns="0" bIns="0" rIns="0">
            <a:spAutoFit/>
          </a:bodyPr>
          <a:lstStyle/>
          <a:p>
            <a:pPr algn="ctr">
              <a:lnSpc>
                <a:spcPts val="2748"/>
              </a:lnSpc>
            </a:pPr>
            <a:r>
              <a:rPr lang="en-US" sz="2290">
                <a:solidFill>
                  <a:srgbClr val="000000"/>
                </a:solidFill>
                <a:latin typeface="Circe"/>
                <a:ea typeface="Circe"/>
                <a:cs typeface="Circe"/>
                <a:sym typeface="Circe"/>
              </a:rPr>
              <a:t>Se conoce como relación de asociación a las conexiones entre clases</a:t>
            </a:r>
          </a:p>
          <a:p>
            <a:pPr algn="ctr">
              <a:lnSpc>
                <a:spcPts val="2748"/>
              </a:lnSpc>
            </a:pPr>
            <a:r>
              <a:rPr lang="en-US" sz="2290">
                <a:solidFill>
                  <a:srgbClr val="000000"/>
                </a:solidFill>
                <a:latin typeface="Circe"/>
                <a:ea typeface="Circe"/>
                <a:cs typeface="Circe"/>
                <a:sym typeface="Circe"/>
              </a:rPr>
              <a:t>﻿</a:t>
            </a:r>
          </a:p>
        </p:txBody>
      </p:sp>
      <p:sp>
        <p:nvSpPr>
          <p:cNvPr name="TextBox 26" id="26"/>
          <p:cNvSpPr txBox="true"/>
          <p:nvPr/>
        </p:nvSpPr>
        <p:spPr>
          <a:xfrm rot="0">
            <a:off x="7360269" y="7237645"/>
            <a:ext cx="3800238" cy="440358"/>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rPr>
              <a:t>HERENCIA</a:t>
            </a:r>
          </a:p>
        </p:txBody>
      </p:sp>
      <p:sp>
        <p:nvSpPr>
          <p:cNvPr name="TextBox 27" id="27"/>
          <p:cNvSpPr txBox="true"/>
          <p:nvPr/>
        </p:nvSpPr>
        <p:spPr>
          <a:xfrm rot="0">
            <a:off x="7301156" y="7995211"/>
            <a:ext cx="3685688" cy="1036193"/>
          </a:xfrm>
          <a:prstGeom prst="rect">
            <a:avLst/>
          </a:prstGeom>
        </p:spPr>
        <p:txBody>
          <a:bodyPr anchor="t" rtlCol="false" tIns="0" lIns="0" bIns="0" rIns="0">
            <a:spAutoFit/>
          </a:bodyPr>
          <a:lstStyle/>
          <a:p>
            <a:pPr algn="ctr">
              <a:lnSpc>
                <a:spcPts val="2748"/>
              </a:lnSpc>
            </a:pPr>
            <a:r>
              <a:rPr lang="en-US" sz="2290">
                <a:solidFill>
                  <a:srgbClr val="000000"/>
                </a:solidFill>
                <a:latin typeface="Circe"/>
                <a:ea typeface="Circe"/>
                <a:cs typeface="Circe"/>
                <a:sym typeface="Circe"/>
              </a:rPr>
              <a:t> Es una de las relaciones más comunes en la práctica del paradigma orientado a objeto</a:t>
            </a:r>
          </a:p>
        </p:txBody>
      </p:sp>
      <p:sp>
        <p:nvSpPr>
          <p:cNvPr name="TextBox 28" id="28"/>
          <p:cNvSpPr txBox="true"/>
          <p:nvPr/>
        </p:nvSpPr>
        <p:spPr>
          <a:xfrm rot="0">
            <a:off x="2172895" y="7361341"/>
            <a:ext cx="3800238" cy="440358"/>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rPr>
              <a:t>AGREGACION</a:t>
            </a:r>
          </a:p>
        </p:txBody>
      </p:sp>
      <p:sp>
        <p:nvSpPr>
          <p:cNvPr name="TextBox 29" id="29"/>
          <p:cNvSpPr txBox="true"/>
          <p:nvPr/>
        </p:nvSpPr>
        <p:spPr>
          <a:xfrm rot="0">
            <a:off x="2230170" y="7876710"/>
            <a:ext cx="3685688" cy="1381590"/>
          </a:xfrm>
          <a:prstGeom prst="rect">
            <a:avLst/>
          </a:prstGeom>
        </p:spPr>
        <p:txBody>
          <a:bodyPr anchor="t" rtlCol="false" tIns="0" lIns="0" bIns="0" rIns="0">
            <a:spAutoFit/>
          </a:bodyPr>
          <a:lstStyle/>
          <a:p>
            <a:pPr algn="ctr">
              <a:lnSpc>
                <a:spcPts val="2748"/>
              </a:lnSpc>
            </a:pPr>
            <a:r>
              <a:rPr lang="en-US" sz="2290">
                <a:solidFill>
                  <a:srgbClr val="000000"/>
                </a:solidFill>
                <a:latin typeface="Circe"/>
                <a:ea typeface="Circe"/>
                <a:cs typeface="Circe"/>
                <a:sym typeface="Circe"/>
              </a:rPr>
              <a:t>Es un tipo de relación especial, donde se representa que un conjunto de clases conforma un todo</a:t>
            </a:r>
          </a:p>
        </p:txBody>
      </p:sp>
      <p:sp>
        <p:nvSpPr>
          <p:cNvPr name="TextBox 30" id="30"/>
          <p:cNvSpPr txBox="true"/>
          <p:nvPr/>
        </p:nvSpPr>
        <p:spPr>
          <a:xfrm rot="0">
            <a:off x="7360269" y="3962155"/>
            <a:ext cx="3800238" cy="440358"/>
          </a:xfrm>
          <a:prstGeom prst="rect">
            <a:avLst/>
          </a:prstGeom>
        </p:spPr>
        <p:txBody>
          <a:bodyPr anchor="t" rtlCol="false" tIns="0" lIns="0" bIns="0" rIns="0">
            <a:spAutoFit/>
          </a:bodyPr>
          <a:lstStyle/>
          <a:p>
            <a:pPr algn="ctr">
              <a:lnSpc>
                <a:spcPts val="3491"/>
              </a:lnSpc>
            </a:pPr>
            <a:r>
              <a:rPr lang="en-US" b="true" sz="3173">
                <a:solidFill>
                  <a:srgbClr val="000000"/>
                </a:solidFill>
                <a:latin typeface="Circe Bold"/>
                <a:ea typeface="Circe Bold"/>
                <a:cs typeface="Circe Bold"/>
                <a:sym typeface="Circe Bold"/>
              </a:rPr>
              <a:t>COMPOSICIÓN</a:t>
            </a:r>
          </a:p>
        </p:txBody>
      </p:sp>
      <p:sp>
        <p:nvSpPr>
          <p:cNvPr name="TextBox 31" id="31"/>
          <p:cNvSpPr txBox="true"/>
          <p:nvPr/>
        </p:nvSpPr>
        <p:spPr>
          <a:xfrm rot="0">
            <a:off x="7301156" y="4444040"/>
            <a:ext cx="3685688" cy="1726988"/>
          </a:xfrm>
          <a:prstGeom prst="rect">
            <a:avLst/>
          </a:prstGeom>
        </p:spPr>
        <p:txBody>
          <a:bodyPr anchor="t" rtlCol="false" tIns="0" lIns="0" bIns="0" rIns="0">
            <a:spAutoFit/>
          </a:bodyPr>
          <a:lstStyle/>
          <a:p>
            <a:pPr algn="ctr">
              <a:lnSpc>
                <a:spcPts val="2748"/>
              </a:lnSpc>
            </a:pPr>
            <a:r>
              <a:rPr lang="en-US" sz="2290">
                <a:solidFill>
                  <a:srgbClr val="000000"/>
                </a:solidFill>
                <a:latin typeface="Circe"/>
                <a:ea typeface="Circe"/>
                <a:cs typeface="Circe"/>
                <a:sym typeface="Circe"/>
              </a:rPr>
              <a:t>Es un tipo especial de relación de agregación en el que las clases componentes, son exclusivos de la composición establecida.</a:t>
            </a:r>
          </a:p>
        </p:txBody>
      </p:sp>
      <p:sp>
        <p:nvSpPr>
          <p:cNvPr name="TextBox 32" id="32"/>
          <p:cNvSpPr txBox="true"/>
          <p:nvPr/>
        </p:nvSpPr>
        <p:spPr>
          <a:xfrm rot="0">
            <a:off x="12959717" y="3479031"/>
            <a:ext cx="3814810" cy="971476"/>
          </a:xfrm>
          <a:prstGeom prst="rect">
            <a:avLst/>
          </a:prstGeom>
        </p:spPr>
        <p:txBody>
          <a:bodyPr anchor="t" rtlCol="false" tIns="0" lIns="0" bIns="0" rIns="0">
            <a:spAutoFit/>
          </a:bodyPr>
          <a:lstStyle/>
          <a:p>
            <a:pPr algn="ctr" marL="0" indent="0" lvl="0">
              <a:lnSpc>
                <a:spcPts val="7710"/>
              </a:lnSpc>
              <a:spcBef>
                <a:spcPct val="0"/>
              </a:spcBef>
            </a:pPr>
            <a:r>
              <a:rPr lang="en-US" sz="6425">
                <a:solidFill>
                  <a:srgbClr val="F34336"/>
                </a:solidFill>
                <a:latin typeface="Circe Contrast"/>
                <a:ea typeface="Circe Contrast"/>
                <a:cs typeface="Circe Contrast"/>
                <a:sym typeface="Circe Contrast"/>
              </a:rPr>
              <a:t>Notación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36378" y="1739445"/>
            <a:ext cx="15615244" cy="6808110"/>
            <a:chOff x="0" y="0"/>
            <a:chExt cx="4309747" cy="1879012"/>
          </a:xfrm>
        </p:grpSpPr>
        <p:sp>
          <p:nvSpPr>
            <p:cNvPr name="Freeform 3" id="3"/>
            <p:cNvSpPr/>
            <p:nvPr/>
          </p:nvSpPr>
          <p:spPr>
            <a:xfrm flipH="false" flipV="false" rot="0">
              <a:off x="0" y="0"/>
              <a:ext cx="4309747" cy="1879012"/>
            </a:xfrm>
            <a:custGeom>
              <a:avLst/>
              <a:gdLst/>
              <a:ahLst/>
              <a:cxnLst/>
              <a:rect r="r" b="b" t="t" l="l"/>
              <a:pathLst>
                <a:path h="1879012" w="4309747">
                  <a:moveTo>
                    <a:pt x="0" y="0"/>
                  </a:moveTo>
                  <a:lnTo>
                    <a:pt x="4309747" y="0"/>
                  </a:lnTo>
                  <a:lnTo>
                    <a:pt x="4309747" y="1879012"/>
                  </a:lnTo>
                  <a:lnTo>
                    <a:pt x="0" y="1879012"/>
                  </a:lnTo>
                  <a:close/>
                </a:path>
              </a:pathLst>
            </a:custGeom>
            <a:solidFill>
              <a:srgbClr val="F6EEE8"/>
            </a:solidFill>
          </p:spPr>
        </p:sp>
        <p:sp>
          <p:nvSpPr>
            <p:cNvPr name="TextBox 4" id="4"/>
            <p:cNvSpPr txBox="true"/>
            <p:nvPr/>
          </p:nvSpPr>
          <p:spPr>
            <a:xfrm>
              <a:off x="0" y="-38100"/>
              <a:ext cx="4309747" cy="1917112"/>
            </a:xfrm>
            <a:prstGeom prst="rect">
              <a:avLst/>
            </a:prstGeom>
          </p:spPr>
          <p:txBody>
            <a:bodyPr anchor="ctr" rtlCol="false" tIns="50800" lIns="50800" bIns="50800" rIns="50800"/>
            <a:lstStyle/>
            <a:p>
              <a:pPr algn="ctr">
                <a:lnSpc>
                  <a:spcPts val="2659"/>
                </a:lnSpc>
              </a:pPr>
            </a:p>
          </p:txBody>
        </p:sp>
      </p:grpSp>
      <p:grpSp>
        <p:nvGrpSpPr>
          <p:cNvPr name="Group 5" id="5"/>
          <p:cNvGrpSpPr>
            <a:grpSpLocks noChangeAspect="true"/>
          </p:cNvGrpSpPr>
          <p:nvPr/>
        </p:nvGrpSpPr>
        <p:grpSpPr>
          <a:xfrm rot="0">
            <a:off x="1363646" y="-4646295"/>
            <a:ext cx="5246370" cy="5246370"/>
            <a:chOff x="0" y="0"/>
            <a:chExt cx="6355080" cy="6355080"/>
          </a:xfrm>
        </p:grpSpPr>
        <p:sp>
          <p:nvSpPr>
            <p:cNvPr name="Freeform 6" id="6"/>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7" id="7"/>
          <p:cNvGrpSpPr>
            <a:grpSpLocks noChangeAspect="true"/>
          </p:cNvGrpSpPr>
          <p:nvPr/>
        </p:nvGrpSpPr>
        <p:grpSpPr>
          <a:xfrm rot="0">
            <a:off x="12450083" y="9717290"/>
            <a:ext cx="5246370" cy="5246370"/>
            <a:chOff x="0" y="0"/>
            <a:chExt cx="6355080" cy="6355080"/>
          </a:xfrm>
        </p:grpSpPr>
        <p:sp>
          <p:nvSpPr>
            <p:cNvPr name="Freeform 8" id="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9" id="9"/>
          <p:cNvSpPr/>
          <p:nvPr/>
        </p:nvSpPr>
        <p:spPr>
          <a:xfrm flipH="false" flipV="false" rot="0">
            <a:off x="7602516" y="5814540"/>
            <a:ext cx="9036635" cy="2434527"/>
          </a:xfrm>
          <a:custGeom>
            <a:avLst/>
            <a:gdLst/>
            <a:ahLst/>
            <a:cxnLst/>
            <a:rect r="r" b="b" t="t" l="l"/>
            <a:pathLst>
              <a:path h="2434527" w="9036635">
                <a:moveTo>
                  <a:pt x="0" y="0"/>
                </a:moveTo>
                <a:lnTo>
                  <a:pt x="9036635" y="0"/>
                </a:lnTo>
                <a:lnTo>
                  <a:pt x="9036635" y="2434527"/>
                </a:lnTo>
                <a:lnTo>
                  <a:pt x="0" y="2434527"/>
                </a:lnTo>
                <a:lnTo>
                  <a:pt x="0" y="0"/>
                </a:lnTo>
                <a:close/>
              </a:path>
            </a:pathLst>
          </a:custGeom>
          <a:blipFill>
            <a:blip r:embed="rId2"/>
            <a:stretch>
              <a:fillRect l="0" t="0" r="0" b="0"/>
            </a:stretch>
          </a:blipFill>
        </p:spPr>
      </p:sp>
      <p:sp>
        <p:nvSpPr>
          <p:cNvPr name="TextBox 10" id="10"/>
          <p:cNvSpPr txBox="true"/>
          <p:nvPr/>
        </p:nvSpPr>
        <p:spPr>
          <a:xfrm rot="0">
            <a:off x="3804726" y="2090257"/>
            <a:ext cx="10881745" cy="958061"/>
          </a:xfrm>
          <a:prstGeom prst="rect">
            <a:avLst/>
          </a:prstGeom>
        </p:spPr>
        <p:txBody>
          <a:bodyPr anchor="t" rtlCol="false" tIns="0" lIns="0" bIns="0" rIns="0">
            <a:spAutoFit/>
          </a:bodyPr>
          <a:lstStyle/>
          <a:p>
            <a:pPr algn="ctr">
              <a:lnSpc>
                <a:spcPts val="7043"/>
              </a:lnSpc>
            </a:pPr>
            <a:r>
              <a:rPr lang="en-US" sz="7656" u="sng">
                <a:solidFill>
                  <a:srgbClr val="412D44"/>
                </a:solidFill>
                <a:latin typeface="Circe Contrast"/>
                <a:ea typeface="Circe Contrast"/>
                <a:cs typeface="Circe Contrast"/>
                <a:sym typeface="Circe Contrast"/>
              </a:rPr>
              <a:t>Asociación</a:t>
            </a:r>
          </a:p>
        </p:txBody>
      </p:sp>
      <p:sp>
        <p:nvSpPr>
          <p:cNvPr name="TextBox 11" id="11"/>
          <p:cNvSpPr txBox="true"/>
          <p:nvPr/>
        </p:nvSpPr>
        <p:spPr>
          <a:xfrm rot="0">
            <a:off x="1363646" y="3196533"/>
            <a:ext cx="15587975" cy="866775"/>
          </a:xfrm>
          <a:prstGeom prst="rect">
            <a:avLst/>
          </a:prstGeom>
        </p:spPr>
        <p:txBody>
          <a:bodyPr anchor="t" rtlCol="false" tIns="0" lIns="0" bIns="0" rIns="0">
            <a:spAutoFit/>
          </a:bodyPr>
          <a:lstStyle/>
          <a:p>
            <a:pPr algn="ctr">
              <a:lnSpc>
                <a:spcPts val="3468"/>
              </a:lnSpc>
            </a:pPr>
            <a:r>
              <a:rPr lang="en-US" sz="2890">
                <a:solidFill>
                  <a:srgbClr val="000000"/>
                </a:solidFill>
                <a:latin typeface="Circe"/>
                <a:ea typeface="Circe"/>
                <a:cs typeface="Circe"/>
                <a:sym typeface="Circe"/>
              </a:rPr>
              <a:t>Es una conexión entre clases que se grafica mediante de una línea que une dos clases, teniendo esta relación las siguientes caracteristicas:</a:t>
            </a:r>
          </a:p>
        </p:txBody>
      </p:sp>
      <p:sp>
        <p:nvSpPr>
          <p:cNvPr name="TextBox 12" id="12"/>
          <p:cNvSpPr txBox="true"/>
          <p:nvPr/>
        </p:nvSpPr>
        <p:spPr>
          <a:xfrm rot="0">
            <a:off x="1451611" y="4448584"/>
            <a:ext cx="15187540" cy="1742926"/>
          </a:xfrm>
          <a:prstGeom prst="rect">
            <a:avLst/>
          </a:prstGeom>
        </p:spPr>
        <p:txBody>
          <a:bodyPr anchor="t" rtlCol="false" tIns="0" lIns="0" bIns="0" rIns="0">
            <a:spAutoFit/>
          </a:bodyPr>
          <a:lstStyle/>
          <a:p>
            <a:pPr algn="l" marL="625035" indent="-312518" lvl="1">
              <a:lnSpc>
                <a:spcPts val="3474"/>
              </a:lnSpc>
              <a:buFont typeface="Arial"/>
              <a:buChar char="•"/>
            </a:pPr>
            <a:r>
              <a:rPr lang="en-US" b="true" sz="2895">
                <a:solidFill>
                  <a:srgbClr val="000000"/>
                </a:solidFill>
                <a:latin typeface="Circe Bold"/>
                <a:ea typeface="Circe Bold"/>
                <a:cs typeface="Circe Bold"/>
                <a:sym typeface="Circe Bold"/>
              </a:rPr>
              <a:t>Nombre de asociación:  </a:t>
            </a:r>
            <a:r>
              <a:rPr lang="en-US" sz="2895">
                <a:solidFill>
                  <a:srgbClr val="000000"/>
                </a:solidFill>
                <a:latin typeface="Circe"/>
                <a:ea typeface="Circe"/>
                <a:cs typeface="Circe"/>
                <a:sym typeface="Circe"/>
              </a:rPr>
              <a:t>Es necesario establecer un nombre a la asociación entre las dos tablas.</a:t>
            </a:r>
          </a:p>
          <a:p>
            <a:pPr algn="l" marL="625035" indent="-312518" lvl="1">
              <a:lnSpc>
                <a:spcPts val="3474"/>
              </a:lnSpc>
              <a:buFont typeface="Arial"/>
              <a:buChar char="•"/>
            </a:pPr>
            <a:r>
              <a:rPr lang="en-US" b="true" sz="2895">
                <a:solidFill>
                  <a:srgbClr val="000000"/>
                </a:solidFill>
                <a:latin typeface="Circe Bold"/>
                <a:ea typeface="Circe Bold"/>
                <a:cs typeface="Circe Bold"/>
                <a:sym typeface="Circe Bold"/>
              </a:rPr>
              <a:t>Navegabilidad: </a:t>
            </a:r>
            <a:r>
              <a:rPr lang="en-US" sz="2895">
                <a:solidFill>
                  <a:srgbClr val="000000"/>
                </a:solidFill>
                <a:latin typeface="Circe"/>
                <a:ea typeface="Circe"/>
                <a:cs typeface="Circe"/>
                <a:sym typeface="Circe"/>
              </a:rPr>
              <a:t>Existen dos tipo unidireccional y bidireccional. Gráficamente se representa con líneas punteadas de flecas.</a:t>
            </a:r>
          </a:p>
        </p:txBody>
      </p:sp>
      <p:sp>
        <p:nvSpPr>
          <p:cNvPr name="TextBox 13" id="13"/>
          <p:cNvSpPr txBox="true"/>
          <p:nvPr/>
        </p:nvSpPr>
        <p:spPr>
          <a:xfrm rot="0">
            <a:off x="1451611" y="5946046"/>
            <a:ext cx="6150905" cy="2181039"/>
          </a:xfrm>
          <a:prstGeom prst="rect">
            <a:avLst/>
          </a:prstGeom>
        </p:spPr>
        <p:txBody>
          <a:bodyPr anchor="t" rtlCol="false" tIns="0" lIns="0" bIns="0" rIns="0">
            <a:spAutoFit/>
          </a:bodyPr>
          <a:lstStyle/>
          <a:p>
            <a:pPr algn="l">
              <a:lnSpc>
                <a:spcPts val="3474"/>
              </a:lnSpc>
            </a:pPr>
          </a:p>
          <a:p>
            <a:pPr algn="l" marL="625035" indent="-312518" lvl="1">
              <a:lnSpc>
                <a:spcPts val="3474"/>
              </a:lnSpc>
              <a:buFont typeface="Arial"/>
              <a:buChar char="•"/>
            </a:pPr>
            <a:r>
              <a:rPr lang="en-US" b="true" sz="2895">
                <a:solidFill>
                  <a:srgbClr val="000000"/>
                </a:solidFill>
                <a:latin typeface="Circe Bold"/>
                <a:ea typeface="Circe Bold"/>
                <a:cs typeface="Circe Bold"/>
                <a:sym typeface="Circe Bold"/>
              </a:rPr>
              <a:t>Multiplicidad</a:t>
            </a:r>
            <a:r>
              <a:rPr lang="en-US" sz="2895">
                <a:solidFill>
                  <a:srgbClr val="000000"/>
                </a:solidFill>
                <a:latin typeface="Circe"/>
                <a:ea typeface="Circe"/>
                <a:cs typeface="Circe"/>
                <a:sym typeface="Circe"/>
              </a:rPr>
              <a:t>:  representan el número de instancias de la clase que pueden ser partícipes en el proceso de asociación.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97098" y="6507271"/>
            <a:ext cx="6589443" cy="1370862"/>
            <a:chOff x="0" y="0"/>
            <a:chExt cx="2025830" cy="421452"/>
          </a:xfrm>
        </p:grpSpPr>
        <p:sp>
          <p:nvSpPr>
            <p:cNvPr name="Freeform 3" id="3"/>
            <p:cNvSpPr/>
            <p:nvPr/>
          </p:nvSpPr>
          <p:spPr>
            <a:xfrm flipH="false" flipV="false" rot="0">
              <a:off x="0" y="0"/>
              <a:ext cx="2025830" cy="421452"/>
            </a:xfrm>
            <a:custGeom>
              <a:avLst/>
              <a:gdLst/>
              <a:ahLst/>
              <a:cxnLst/>
              <a:rect r="r" b="b" t="t" l="l"/>
              <a:pathLst>
                <a:path h="421452" w="2025830">
                  <a:moveTo>
                    <a:pt x="63444" y="0"/>
                  </a:moveTo>
                  <a:lnTo>
                    <a:pt x="1962386" y="0"/>
                  </a:lnTo>
                  <a:cubicBezTo>
                    <a:pt x="1997425" y="0"/>
                    <a:pt x="2025830" y="28405"/>
                    <a:pt x="2025830" y="63444"/>
                  </a:cubicBezTo>
                  <a:lnTo>
                    <a:pt x="2025830" y="358007"/>
                  </a:lnTo>
                  <a:cubicBezTo>
                    <a:pt x="2025830" y="393047"/>
                    <a:pt x="1997425" y="421452"/>
                    <a:pt x="1962386" y="421452"/>
                  </a:cubicBezTo>
                  <a:lnTo>
                    <a:pt x="63444" y="421452"/>
                  </a:lnTo>
                  <a:cubicBezTo>
                    <a:pt x="28405" y="421452"/>
                    <a:pt x="0" y="393047"/>
                    <a:pt x="0" y="358007"/>
                  </a:cubicBezTo>
                  <a:lnTo>
                    <a:pt x="0" y="63444"/>
                  </a:lnTo>
                  <a:cubicBezTo>
                    <a:pt x="0" y="28405"/>
                    <a:pt x="28405" y="0"/>
                    <a:pt x="63444" y="0"/>
                  </a:cubicBezTo>
                  <a:close/>
                </a:path>
              </a:pathLst>
            </a:custGeom>
            <a:solidFill>
              <a:srgbClr val="F8B858">
                <a:alpha val="34902"/>
              </a:srgbClr>
            </a:solidFill>
          </p:spPr>
        </p:sp>
        <p:sp>
          <p:nvSpPr>
            <p:cNvPr name="TextBox 4" id="4"/>
            <p:cNvSpPr txBox="true"/>
            <p:nvPr/>
          </p:nvSpPr>
          <p:spPr>
            <a:xfrm>
              <a:off x="0" y="0"/>
              <a:ext cx="2025830" cy="421452"/>
            </a:xfrm>
            <a:prstGeom prst="rect">
              <a:avLst/>
            </a:prstGeom>
          </p:spPr>
          <p:txBody>
            <a:bodyPr anchor="ctr" rtlCol="false" tIns="50800" lIns="50800" bIns="50800" rIns="50800"/>
            <a:lstStyle/>
            <a:p>
              <a:pPr algn="ctr">
                <a:lnSpc>
                  <a:spcPts val="2748"/>
                </a:lnSpc>
              </a:pPr>
            </a:p>
          </p:txBody>
        </p:sp>
      </p:grpSp>
      <p:grpSp>
        <p:nvGrpSpPr>
          <p:cNvPr name="Group 5" id="5"/>
          <p:cNvGrpSpPr/>
          <p:nvPr/>
        </p:nvGrpSpPr>
        <p:grpSpPr>
          <a:xfrm rot="0">
            <a:off x="2262777" y="6832475"/>
            <a:ext cx="1804390" cy="754857"/>
            <a:chOff x="0" y="0"/>
            <a:chExt cx="554734" cy="232070"/>
          </a:xfrm>
        </p:grpSpPr>
        <p:sp>
          <p:nvSpPr>
            <p:cNvPr name="Freeform 6" id="6"/>
            <p:cNvSpPr/>
            <p:nvPr/>
          </p:nvSpPr>
          <p:spPr>
            <a:xfrm flipH="false" flipV="false" rot="0">
              <a:off x="0" y="0"/>
              <a:ext cx="554734" cy="232070"/>
            </a:xfrm>
            <a:custGeom>
              <a:avLst/>
              <a:gdLst/>
              <a:ahLst/>
              <a:cxnLst/>
              <a:rect r="r" b="b" t="t" l="l"/>
              <a:pathLst>
                <a:path h="232070" w="554734">
                  <a:moveTo>
                    <a:pt x="0" y="0"/>
                  </a:moveTo>
                  <a:lnTo>
                    <a:pt x="554734" y="0"/>
                  </a:lnTo>
                  <a:lnTo>
                    <a:pt x="554734" y="232070"/>
                  </a:lnTo>
                  <a:lnTo>
                    <a:pt x="0" y="232070"/>
                  </a:lnTo>
                  <a:close/>
                </a:path>
              </a:pathLst>
            </a:custGeom>
            <a:solidFill>
              <a:srgbClr val="DFFAD2"/>
            </a:solidFill>
          </p:spPr>
        </p:sp>
        <p:sp>
          <p:nvSpPr>
            <p:cNvPr name="TextBox 7" id="7"/>
            <p:cNvSpPr txBox="true"/>
            <p:nvPr/>
          </p:nvSpPr>
          <p:spPr>
            <a:xfrm>
              <a:off x="0" y="0"/>
              <a:ext cx="554734" cy="232070"/>
            </a:xfrm>
            <a:prstGeom prst="rect">
              <a:avLst/>
            </a:prstGeom>
          </p:spPr>
          <p:txBody>
            <a:bodyPr anchor="ctr" rtlCol="false" tIns="50800" lIns="50800" bIns="50800" rIns="50800"/>
            <a:lstStyle/>
            <a:p>
              <a:pPr algn="ctr">
                <a:lnSpc>
                  <a:spcPts val="2748"/>
                </a:lnSpc>
              </a:pPr>
            </a:p>
          </p:txBody>
        </p:sp>
      </p:grpSp>
      <p:grpSp>
        <p:nvGrpSpPr>
          <p:cNvPr name="Group 8" id="8"/>
          <p:cNvGrpSpPr/>
          <p:nvPr/>
        </p:nvGrpSpPr>
        <p:grpSpPr>
          <a:xfrm rot="0">
            <a:off x="6273906" y="6798072"/>
            <a:ext cx="1322759" cy="754857"/>
            <a:chOff x="0" y="0"/>
            <a:chExt cx="406663" cy="232070"/>
          </a:xfrm>
        </p:grpSpPr>
        <p:sp>
          <p:nvSpPr>
            <p:cNvPr name="Freeform 9" id="9"/>
            <p:cNvSpPr/>
            <p:nvPr/>
          </p:nvSpPr>
          <p:spPr>
            <a:xfrm flipH="false" flipV="false" rot="0">
              <a:off x="0" y="0"/>
              <a:ext cx="406663" cy="232070"/>
            </a:xfrm>
            <a:custGeom>
              <a:avLst/>
              <a:gdLst/>
              <a:ahLst/>
              <a:cxnLst/>
              <a:rect r="r" b="b" t="t" l="l"/>
              <a:pathLst>
                <a:path h="232070" w="406663">
                  <a:moveTo>
                    <a:pt x="0" y="0"/>
                  </a:moveTo>
                  <a:lnTo>
                    <a:pt x="406663" y="0"/>
                  </a:lnTo>
                  <a:lnTo>
                    <a:pt x="406663" y="232070"/>
                  </a:lnTo>
                  <a:lnTo>
                    <a:pt x="0" y="232070"/>
                  </a:lnTo>
                  <a:close/>
                </a:path>
              </a:pathLst>
            </a:custGeom>
            <a:solidFill>
              <a:srgbClr val="DFFAD2"/>
            </a:solidFill>
          </p:spPr>
        </p:sp>
        <p:sp>
          <p:nvSpPr>
            <p:cNvPr name="TextBox 10" id="10"/>
            <p:cNvSpPr txBox="true"/>
            <p:nvPr/>
          </p:nvSpPr>
          <p:spPr>
            <a:xfrm>
              <a:off x="0" y="0"/>
              <a:ext cx="406663" cy="232070"/>
            </a:xfrm>
            <a:prstGeom prst="rect">
              <a:avLst/>
            </a:prstGeom>
          </p:spPr>
          <p:txBody>
            <a:bodyPr anchor="ctr" rtlCol="false" tIns="50800" lIns="50800" bIns="50800" rIns="50800"/>
            <a:lstStyle/>
            <a:p>
              <a:pPr algn="ctr">
                <a:lnSpc>
                  <a:spcPts val="2748"/>
                </a:lnSpc>
              </a:pPr>
            </a:p>
          </p:txBody>
        </p:sp>
      </p:grpSp>
      <p:sp>
        <p:nvSpPr>
          <p:cNvPr name="Freeform 11" id="11"/>
          <p:cNvSpPr/>
          <p:nvPr/>
        </p:nvSpPr>
        <p:spPr>
          <a:xfrm flipH="false" flipV="false" rot="0">
            <a:off x="0" y="-6988676"/>
            <a:ext cx="18520777" cy="18520777"/>
          </a:xfrm>
          <a:custGeom>
            <a:avLst/>
            <a:gdLst/>
            <a:ahLst/>
            <a:cxnLst/>
            <a:rect r="r" b="b" t="t" l="l"/>
            <a:pathLst>
              <a:path h="18520777" w="18520777">
                <a:moveTo>
                  <a:pt x="0" y="0"/>
                </a:moveTo>
                <a:lnTo>
                  <a:pt x="18520777" y="0"/>
                </a:lnTo>
                <a:lnTo>
                  <a:pt x="18520777" y="18520777"/>
                </a:lnTo>
                <a:lnTo>
                  <a:pt x="0" y="185207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542500" y="4200790"/>
            <a:ext cx="4898640" cy="600149"/>
          </a:xfrm>
          <a:prstGeom prst="rect">
            <a:avLst/>
          </a:prstGeom>
        </p:spPr>
        <p:txBody>
          <a:bodyPr anchor="t" rtlCol="false" tIns="0" lIns="0" bIns="0" rIns="0">
            <a:spAutoFit/>
          </a:bodyPr>
          <a:lstStyle/>
          <a:p>
            <a:pPr algn="ctr">
              <a:lnSpc>
                <a:spcPts val="4799"/>
              </a:lnSpc>
            </a:pPr>
            <a:r>
              <a:rPr lang="en-US" sz="3999">
                <a:solidFill>
                  <a:srgbClr val="000000"/>
                </a:solidFill>
                <a:latin typeface="Circe Contrast"/>
                <a:ea typeface="Circe Contrast"/>
                <a:cs typeface="Circe Contrast"/>
                <a:sym typeface="Circe Contrast"/>
              </a:rPr>
              <a:t>Unidireccional</a:t>
            </a:r>
          </a:p>
        </p:txBody>
      </p:sp>
      <p:sp>
        <p:nvSpPr>
          <p:cNvPr name="TextBox 13" id="13"/>
          <p:cNvSpPr txBox="true"/>
          <p:nvPr/>
        </p:nvSpPr>
        <p:spPr>
          <a:xfrm rot="0">
            <a:off x="1867974" y="757238"/>
            <a:ext cx="14552052" cy="1514475"/>
          </a:xfrm>
          <a:prstGeom prst="rect">
            <a:avLst/>
          </a:prstGeom>
        </p:spPr>
        <p:txBody>
          <a:bodyPr anchor="t" rtlCol="false" tIns="0" lIns="0" bIns="0" rIns="0">
            <a:spAutoFit/>
          </a:bodyPr>
          <a:lstStyle/>
          <a:p>
            <a:pPr algn="ctr" marL="0" indent="0" lvl="0">
              <a:lnSpc>
                <a:spcPts val="11999"/>
              </a:lnSpc>
              <a:spcBef>
                <a:spcPct val="0"/>
              </a:spcBef>
            </a:pPr>
            <a:r>
              <a:rPr lang="en-US" sz="9999">
                <a:solidFill>
                  <a:srgbClr val="412D44"/>
                </a:solidFill>
                <a:latin typeface="Circe Contrast"/>
                <a:ea typeface="Circe Contrast"/>
                <a:cs typeface="Circe Contrast"/>
                <a:sym typeface="Circe Contrast"/>
              </a:rPr>
              <a:t>Multiplicidad</a:t>
            </a:r>
          </a:p>
        </p:txBody>
      </p:sp>
      <p:grpSp>
        <p:nvGrpSpPr>
          <p:cNvPr name="Group 14" id="14"/>
          <p:cNvGrpSpPr>
            <a:grpSpLocks noChangeAspect="true"/>
          </p:cNvGrpSpPr>
          <p:nvPr/>
        </p:nvGrpSpPr>
        <p:grpSpPr>
          <a:xfrm rot="0">
            <a:off x="-2541216" y="-4570607"/>
            <a:ext cx="6085082" cy="6085082"/>
            <a:chOff x="0" y="0"/>
            <a:chExt cx="6355080" cy="6355080"/>
          </a:xfrm>
        </p:grpSpPr>
        <p:sp>
          <p:nvSpPr>
            <p:cNvPr name="Freeform 15" id="1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TextBox 16" id="16"/>
          <p:cNvSpPr txBox="true"/>
          <p:nvPr/>
        </p:nvSpPr>
        <p:spPr>
          <a:xfrm rot="0">
            <a:off x="1819683" y="6907831"/>
            <a:ext cx="6144858" cy="487779"/>
          </a:xfrm>
          <a:prstGeom prst="rect">
            <a:avLst/>
          </a:prstGeom>
        </p:spPr>
        <p:txBody>
          <a:bodyPr anchor="t" rtlCol="false" tIns="0" lIns="0" bIns="0" rIns="0">
            <a:spAutoFit/>
          </a:bodyPr>
          <a:lstStyle/>
          <a:p>
            <a:pPr algn="ctr">
              <a:lnSpc>
                <a:spcPts val="4077"/>
              </a:lnSpc>
            </a:pPr>
            <a:r>
              <a:rPr lang="en-US" sz="2912">
                <a:solidFill>
                  <a:srgbClr val="000000"/>
                </a:solidFill>
                <a:latin typeface="Open Sans"/>
                <a:ea typeface="Open Sans"/>
                <a:cs typeface="Open Sans"/>
                <a:sym typeface="Open Sans"/>
              </a:rPr>
              <a:t>Profesor     1 ---------&gt; *   Curso</a:t>
            </a:r>
          </a:p>
        </p:txBody>
      </p:sp>
      <p:sp>
        <p:nvSpPr>
          <p:cNvPr name="TextBox 17" id="17"/>
          <p:cNvSpPr txBox="true"/>
          <p:nvPr/>
        </p:nvSpPr>
        <p:spPr>
          <a:xfrm rot="0">
            <a:off x="2173143" y="2637694"/>
            <a:ext cx="14174491" cy="971476"/>
          </a:xfrm>
          <a:prstGeom prst="rect">
            <a:avLst/>
          </a:prstGeom>
        </p:spPr>
        <p:txBody>
          <a:bodyPr anchor="t" rtlCol="false" tIns="0" lIns="0" bIns="0" rIns="0">
            <a:spAutoFit/>
          </a:bodyPr>
          <a:lstStyle/>
          <a:p>
            <a:pPr algn="ctr" marL="0" indent="0" lvl="0">
              <a:lnSpc>
                <a:spcPts val="3840"/>
              </a:lnSpc>
              <a:spcBef>
                <a:spcPct val="0"/>
              </a:spcBef>
            </a:pPr>
            <a:r>
              <a:rPr lang="en-US" b="true" sz="3200">
                <a:solidFill>
                  <a:srgbClr val="412D44"/>
                </a:solidFill>
                <a:latin typeface="Circe Bold"/>
                <a:ea typeface="Circe Bold"/>
                <a:cs typeface="Circe Bold"/>
                <a:sym typeface="Circe Bold"/>
              </a:rPr>
              <a:t>La multiplicidad indica cuántos objetos de una clase pueden estar relacionados con objetos de otra clase.</a:t>
            </a:r>
          </a:p>
        </p:txBody>
      </p:sp>
      <p:sp>
        <p:nvSpPr>
          <p:cNvPr name="TextBox 18" id="18"/>
          <p:cNvSpPr txBox="true"/>
          <p:nvPr/>
        </p:nvSpPr>
        <p:spPr>
          <a:xfrm rot="0">
            <a:off x="1697098" y="5303212"/>
            <a:ext cx="6589443" cy="900729"/>
          </a:xfrm>
          <a:prstGeom prst="rect">
            <a:avLst/>
          </a:prstGeom>
        </p:spPr>
        <p:txBody>
          <a:bodyPr anchor="t" rtlCol="false" tIns="0" lIns="0" bIns="0" rIns="0">
            <a:spAutoFit/>
          </a:bodyPr>
          <a:lstStyle/>
          <a:p>
            <a:pPr algn="ctr">
              <a:lnSpc>
                <a:spcPts val="3560"/>
              </a:lnSpc>
            </a:pPr>
            <a:r>
              <a:rPr lang="en-US" sz="2966">
                <a:solidFill>
                  <a:srgbClr val="000000"/>
                </a:solidFill>
                <a:latin typeface="Circe"/>
                <a:ea typeface="Circe"/>
                <a:cs typeface="Circe"/>
                <a:sym typeface="Circe"/>
              </a:rPr>
              <a:t>Una clase conoce a la otra, pero la relación no se refleja en el otro sentido.</a:t>
            </a:r>
          </a:p>
        </p:txBody>
      </p:sp>
      <p:sp>
        <p:nvSpPr>
          <p:cNvPr name="TextBox 19" id="19"/>
          <p:cNvSpPr txBox="true"/>
          <p:nvPr/>
        </p:nvSpPr>
        <p:spPr>
          <a:xfrm rot="0">
            <a:off x="1251827" y="8182933"/>
            <a:ext cx="7479985" cy="1457213"/>
          </a:xfrm>
          <a:prstGeom prst="rect">
            <a:avLst/>
          </a:prstGeom>
        </p:spPr>
        <p:txBody>
          <a:bodyPr anchor="t" rtlCol="false" tIns="0" lIns="0" bIns="0" rIns="0">
            <a:spAutoFit/>
          </a:bodyPr>
          <a:lstStyle/>
          <a:p>
            <a:pPr algn="ctr">
              <a:lnSpc>
                <a:spcPts val="3840"/>
              </a:lnSpc>
            </a:pPr>
            <a:r>
              <a:rPr lang="en-US" sz="3200">
                <a:solidFill>
                  <a:srgbClr val="000000"/>
                </a:solidFill>
                <a:latin typeface="Circe"/>
                <a:ea typeface="Circe"/>
                <a:cs typeface="Circe"/>
                <a:sym typeface="Circe"/>
              </a:rPr>
              <a:t>Aquí, un Profesor puede estar asociado con varios Cursos, pero el Curso no conoce a su Profesor.</a:t>
            </a:r>
          </a:p>
        </p:txBody>
      </p:sp>
      <p:sp>
        <p:nvSpPr>
          <p:cNvPr name="AutoShape 20" id="20"/>
          <p:cNvSpPr/>
          <p:nvPr/>
        </p:nvSpPr>
        <p:spPr>
          <a:xfrm>
            <a:off x="9260389" y="5143500"/>
            <a:ext cx="19050" cy="5143474"/>
          </a:xfrm>
          <a:prstGeom prst="line">
            <a:avLst/>
          </a:prstGeom>
          <a:ln cap="flat" w="38100">
            <a:solidFill>
              <a:srgbClr val="000000">
                <a:alpha val="31765"/>
              </a:srgbClr>
            </a:solidFill>
            <a:prstDash val="lgDash"/>
            <a:headEnd type="none" len="sm" w="sm"/>
            <a:tailEnd type="none" len="sm" w="sm"/>
          </a:ln>
        </p:spPr>
      </p:sp>
      <p:grpSp>
        <p:nvGrpSpPr>
          <p:cNvPr name="Group 21" id="21"/>
          <p:cNvGrpSpPr/>
          <p:nvPr/>
        </p:nvGrpSpPr>
        <p:grpSpPr>
          <a:xfrm rot="0">
            <a:off x="10224586" y="6419278"/>
            <a:ext cx="6589443" cy="1370862"/>
            <a:chOff x="0" y="0"/>
            <a:chExt cx="2025830" cy="421452"/>
          </a:xfrm>
        </p:grpSpPr>
        <p:sp>
          <p:nvSpPr>
            <p:cNvPr name="Freeform 22" id="22"/>
            <p:cNvSpPr/>
            <p:nvPr/>
          </p:nvSpPr>
          <p:spPr>
            <a:xfrm flipH="false" flipV="false" rot="0">
              <a:off x="0" y="0"/>
              <a:ext cx="2025830" cy="421452"/>
            </a:xfrm>
            <a:custGeom>
              <a:avLst/>
              <a:gdLst/>
              <a:ahLst/>
              <a:cxnLst/>
              <a:rect r="r" b="b" t="t" l="l"/>
              <a:pathLst>
                <a:path h="421452" w="2025830">
                  <a:moveTo>
                    <a:pt x="63444" y="0"/>
                  </a:moveTo>
                  <a:lnTo>
                    <a:pt x="1962386" y="0"/>
                  </a:lnTo>
                  <a:cubicBezTo>
                    <a:pt x="1997425" y="0"/>
                    <a:pt x="2025830" y="28405"/>
                    <a:pt x="2025830" y="63444"/>
                  </a:cubicBezTo>
                  <a:lnTo>
                    <a:pt x="2025830" y="358007"/>
                  </a:lnTo>
                  <a:cubicBezTo>
                    <a:pt x="2025830" y="393047"/>
                    <a:pt x="1997425" y="421452"/>
                    <a:pt x="1962386" y="421452"/>
                  </a:cubicBezTo>
                  <a:lnTo>
                    <a:pt x="63444" y="421452"/>
                  </a:lnTo>
                  <a:cubicBezTo>
                    <a:pt x="28405" y="421452"/>
                    <a:pt x="0" y="393047"/>
                    <a:pt x="0" y="358007"/>
                  </a:cubicBezTo>
                  <a:lnTo>
                    <a:pt x="0" y="63444"/>
                  </a:lnTo>
                  <a:cubicBezTo>
                    <a:pt x="0" y="28405"/>
                    <a:pt x="28405" y="0"/>
                    <a:pt x="63444" y="0"/>
                  </a:cubicBezTo>
                  <a:close/>
                </a:path>
              </a:pathLst>
            </a:custGeom>
            <a:solidFill>
              <a:srgbClr val="F8B858">
                <a:alpha val="34902"/>
              </a:srgbClr>
            </a:solidFill>
          </p:spPr>
        </p:sp>
        <p:sp>
          <p:nvSpPr>
            <p:cNvPr name="TextBox 23" id="23"/>
            <p:cNvSpPr txBox="true"/>
            <p:nvPr/>
          </p:nvSpPr>
          <p:spPr>
            <a:xfrm>
              <a:off x="0" y="0"/>
              <a:ext cx="2025830" cy="421452"/>
            </a:xfrm>
            <a:prstGeom prst="rect">
              <a:avLst/>
            </a:prstGeom>
          </p:spPr>
          <p:txBody>
            <a:bodyPr anchor="ctr" rtlCol="false" tIns="50800" lIns="50800" bIns="50800" rIns="50800"/>
            <a:lstStyle/>
            <a:p>
              <a:pPr algn="ctr">
                <a:lnSpc>
                  <a:spcPts val="2748"/>
                </a:lnSpc>
              </a:pPr>
            </a:p>
          </p:txBody>
        </p:sp>
      </p:grpSp>
      <p:grpSp>
        <p:nvGrpSpPr>
          <p:cNvPr name="Group 24" id="24"/>
          <p:cNvGrpSpPr/>
          <p:nvPr/>
        </p:nvGrpSpPr>
        <p:grpSpPr>
          <a:xfrm rot="0">
            <a:off x="10612938" y="6744481"/>
            <a:ext cx="1981717" cy="754857"/>
            <a:chOff x="0" y="0"/>
            <a:chExt cx="609251" cy="232070"/>
          </a:xfrm>
        </p:grpSpPr>
        <p:sp>
          <p:nvSpPr>
            <p:cNvPr name="Freeform 25" id="25"/>
            <p:cNvSpPr/>
            <p:nvPr/>
          </p:nvSpPr>
          <p:spPr>
            <a:xfrm flipH="false" flipV="false" rot="0">
              <a:off x="0" y="0"/>
              <a:ext cx="609251" cy="232070"/>
            </a:xfrm>
            <a:custGeom>
              <a:avLst/>
              <a:gdLst/>
              <a:ahLst/>
              <a:cxnLst/>
              <a:rect r="r" b="b" t="t" l="l"/>
              <a:pathLst>
                <a:path h="232070" w="609251">
                  <a:moveTo>
                    <a:pt x="0" y="0"/>
                  </a:moveTo>
                  <a:lnTo>
                    <a:pt x="609251" y="0"/>
                  </a:lnTo>
                  <a:lnTo>
                    <a:pt x="609251" y="232070"/>
                  </a:lnTo>
                  <a:lnTo>
                    <a:pt x="0" y="232070"/>
                  </a:lnTo>
                  <a:close/>
                </a:path>
              </a:pathLst>
            </a:custGeom>
            <a:solidFill>
              <a:srgbClr val="DFFAD2"/>
            </a:solidFill>
          </p:spPr>
        </p:sp>
        <p:sp>
          <p:nvSpPr>
            <p:cNvPr name="TextBox 26" id="26"/>
            <p:cNvSpPr txBox="true"/>
            <p:nvPr/>
          </p:nvSpPr>
          <p:spPr>
            <a:xfrm>
              <a:off x="0" y="0"/>
              <a:ext cx="609251" cy="232070"/>
            </a:xfrm>
            <a:prstGeom prst="rect">
              <a:avLst/>
            </a:prstGeom>
          </p:spPr>
          <p:txBody>
            <a:bodyPr anchor="ctr" rtlCol="false" tIns="50800" lIns="50800" bIns="50800" rIns="50800"/>
            <a:lstStyle/>
            <a:p>
              <a:pPr algn="ctr">
                <a:lnSpc>
                  <a:spcPts val="2748"/>
                </a:lnSpc>
              </a:pPr>
            </a:p>
          </p:txBody>
        </p:sp>
      </p:grpSp>
      <p:grpSp>
        <p:nvGrpSpPr>
          <p:cNvPr name="Group 27" id="27"/>
          <p:cNvGrpSpPr/>
          <p:nvPr/>
        </p:nvGrpSpPr>
        <p:grpSpPr>
          <a:xfrm rot="0">
            <a:off x="14918755" y="6710079"/>
            <a:ext cx="1428879" cy="754857"/>
            <a:chOff x="0" y="0"/>
            <a:chExt cx="439289" cy="232070"/>
          </a:xfrm>
        </p:grpSpPr>
        <p:sp>
          <p:nvSpPr>
            <p:cNvPr name="Freeform 28" id="28"/>
            <p:cNvSpPr/>
            <p:nvPr/>
          </p:nvSpPr>
          <p:spPr>
            <a:xfrm flipH="false" flipV="false" rot="0">
              <a:off x="0" y="0"/>
              <a:ext cx="439289" cy="232070"/>
            </a:xfrm>
            <a:custGeom>
              <a:avLst/>
              <a:gdLst/>
              <a:ahLst/>
              <a:cxnLst/>
              <a:rect r="r" b="b" t="t" l="l"/>
              <a:pathLst>
                <a:path h="232070" w="439289">
                  <a:moveTo>
                    <a:pt x="0" y="0"/>
                  </a:moveTo>
                  <a:lnTo>
                    <a:pt x="439289" y="0"/>
                  </a:lnTo>
                  <a:lnTo>
                    <a:pt x="439289" y="232070"/>
                  </a:lnTo>
                  <a:lnTo>
                    <a:pt x="0" y="232070"/>
                  </a:lnTo>
                  <a:close/>
                </a:path>
              </a:pathLst>
            </a:custGeom>
            <a:solidFill>
              <a:srgbClr val="DFFAD2"/>
            </a:solidFill>
          </p:spPr>
        </p:sp>
        <p:sp>
          <p:nvSpPr>
            <p:cNvPr name="TextBox 29" id="29"/>
            <p:cNvSpPr txBox="true"/>
            <p:nvPr/>
          </p:nvSpPr>
          <p:spPr>
            <a:xfrm>
              <a:off x="0" y="0"/>
              <a:ext cx="439289" cy="232070"/>
            </a:xfrm>
            <a:prstGeom prst="rect">
              <a:avLst/>
            </a:prstGeom>
          </p:spPr>
          <p:txBody>
            <a:bodyPr anchor="ctr" rtlCol="false" tIns="50800" lIns="50800" bIns="50800" rIns="50800"/>
            <a:lstStyle/>
            <a:p>
              <a:pPr algn="ctr">
                <a:lnSpc>
                  <a:spcPts val="2748"/>
                </a:lnSpc>
              </a:pPr>
            </a:p>
          </p:txBody>
        </p:sp>
      </p:grpSp>
      <p:sp>
        <p:nvSpPr>
          <p:cNvPr name="TextBox 30" id="30"/>
          <p:cNvSpPr txBox="true"/>
          <p:nvPr/>
        </p:nvSpPr>
        <p:spPr>
          <a:xfrm rot="0">
            <a:off x="11069988" y="4112797"/>
            <a:ext cx="4898640" cy="600149"/>
          </a:xfrm>
          <a:prstGeom prst="rect">
            <a:avLst/>
          </a:prstGeom>
        </p:spPr>
        <p:txBody>
          <a:bodyPr anchor="t" rtlCol="false" tIns="0" lIns="0" bIns="0" rIns="0">
            <a:spAutoFit/>
          </a:bodyPr>
          <a:lstStyle/>
          <a:p>
            <a:pPr algn="ctr">
              <a:lnSpc>
                <a:spcPts val="4799"/>
              </a:lnSpc>
            </a:pPr>
            <a:r>
              <a:rPr lang="en-US" sz="3999">
                <a:solidFill>
                  <a:srgbClr val="000000"/>
                </a:solidFill>
                <a:latin typeface="Circe Contrast"/>
                <a:ea typeface="Circe Contrast"/>
                <a:cs typeface="Circe Contrast"/>
                <a:sym typeface="Circe Contrast"/>
              </a:rPr>
              <a:t>Bidireccional</a:t>
            </a:r>
          </a:p>
        </p:txBody>
      </p:sp>
      <p:sp>
        <p:nvSpPr>
          <p:cNvPr name="TextBox 31" id="31"/>
          <p:cNvSpPr txBox="true"/>
          <p:nvPr/>
        </p:nvSpPr>
        <p:spPr>
          <a:xfrm rot="0">
            <a:off x="10347171" y="6819837"/>
            <a:ext cx="6144858" cy="487779"/>
          </a:xfrm>
          <a:prstGeom prst="rect">
            <a:avLst/>
          </a:prstGeom>
        </p:spPr>
        <p:txBody>
          <a:bodyPr anchor="t" rtlCol="false" tIns="0" lIns="0" bIns="0" rIns="0">
            <a:spAutoFit/>
          </a:bodyPr>
          <a:lstStyle/>
          <a:p>
            <a:pPr algn="ctr">
              <a:lnSpc>
                <a:spcPts val="4077"/>
              </a:lnSpc>
            </a:pPr>
            <a:r>
              <a:rPr lang="en-US" sz="2912">
                <a:solidFill>
                  <a:srgbClr val="000000"/>
                </a:solidFill>
                <a:latin typeface="Open Sans"/>
                <a:ea typeface="Open Sans"/>
                <a:cs typeface="Open Sans"/>
                <a:sym typeface="Open Sans"/>
              </a:rPr>
              <a:t>Profesor     1 &lt;---------&gt; *   Curso</a:t>
            </a:r>
          </a:p>
        </p:txBody>
      </p:sp>
      <p:sp>
        <p:nvSpPr>
          <p:cNvPr name="TextBox 32" id="32"/>
          <p:cNvSpPr txBox="true"/>
          <p:nvPr/>
        </p:nvSpPr>
        <p:spPr>
          <a:xfrm rot="0">
            <a:off x="9902243" y="5217771"/>
            <a:ext cx="7034714" cy="900729"/>
          </a:xfrm>
          <a:prstGeom prst="rect">
            <a:avLst/>
          </a:prstGeom>
        </p:spPr>
        <p:txBody>
          <a:bodyPr anchor="t" rtlCol="false" tIns="0" lIns="0" bIns="0" rIns="0">
            <a:spAutoFit/>
          </a:bodyPr>
          <a:lstStyle/>
          <a:p>
            <a:pPr algn="ctr">
              <a:lnSpc>
                <a:spcPts val="3560"/>
              </a:lnSpc>
            </a:pPr>
            <a:r>
              <a:rPr lang="en-US" sz="2966">
                <a:solidFill>
                  <a:srgbClr val="000000"/>
                </a:solidFill>
                <a:latin typeface="Circe"/>
                <a:ea typeface="Circe"/>
                <a:cs typeface="Circe"/>
                <a:sym typeface="Circe"/>
              </a:rPr>
              <a:t>Ambas clases se reconocen mutuamente y pueden acceder a las instancias de la otra.</a:t>
            </a:r>
          </a:p>
        </p:txBody>
      </p:sp>
      <p:sp>
        <p:nvSpPr>
          <p:cNvPr name="TextBox 33" id="33"/>
          <p:cNvSpPr txBox="true"/>
          <p:nvPr/>
        </p:nvSpPr>
        <p:spPr>
          <a:xfrm rot="0">
            <a:off x="10054851" y="8182933"/>
            <a:ext cx="7479985" cy="971476"/>
          </a:xfrm>
          <a:prstGeom prst="rect">
            <a:avLst/>
          </a:prstGeom>
        </p:spPr>
        <p:txBody>
          <a:bodyPr anchor="t" rtlCol="false" tIns="0" lIns="0" bIns="0" rIns="0">
            <a:spAutoFit/>
          </a:bodyPr>
          <a:lstStyle/>
          <a:p>
            <a:pPr algn="ctr">
              <a:lnSpc>
                <a:spcPts val="3840"/>
              </a:lnSpc>
            </a:pPr>
            <a:r>
              <a:rPr lang="en-US" sz="3200">
                <a:solidFill>
                  <a:srgbClr val="000000"/>
                </a:solidFill>
                <a:latin typeface="Circe"/>
                <a:ea typeface="Circe"/>
                <a:cs typeface="Circe"/>
                <a:sym typeface="Circe"/>
              </a:rPr>
              <a:t>Aquí, un Profesor puede dictar varios Cursos, y cada Curso tiene un Profesor.</a:t>
            </a:r>
          </a:p>
        </p:txBody>
      </p:sp>
      <p:sp>
        <p:nvSpPr>
          <p:cNvPr name="TextBox 34" id="34"/>
          <p:cNvSpPr txBox="true"/>
          <p:nvPr/>
        </p:nvSpPr>
        <p:spPr>
          <a:xfrm rot="0">
            <a:off x="5315219" y="4017459"/>
            <a:ext cx="7890339" cy="821171"/>
          </a:xfrm>
          <a:prstGeom prst="rect">
            <a:avLst/>
          </a:prstGeom>
        </p:spPr>
        <p:txBody>
          <a:bodyPr anchor="t" rtlCol="false" tIns="0" lIns="0" bIns="0" rIns="0">
            <a:spAutoFit/>
          </a:bodyPr>
          <a:lstStyle/>
          <a:p>
            <a:pPr algn="ctr" marL="0" indent="0" lvl="0">
              <a:lnSpc>
                <a:spcPts val="6506"/>
              </a:lnSpc>
              <a:spcBef>
                <a:spcPct val="0"/>
              </a:spcBef>
            </a:pPr>
            <a:r>
              <a:rPr lang="en-US" sz="5422">
                <a:solidFill>
                  <a:srgbClr val="412D44">
                    <a:alpha val="60000"/>
                  </a:srgbClr>
                </a:solidFill>
                <a:latin typeface="Circe Contrast"/>
                <a:ea typeface="Circe Contrast"/>
                <a:cs typeface="Circe Contrast"/>
                <a:sym typeface="Circe Contrast"/>
              </a:rPr>
              <a:t>Navegabilidad</a:t>
            </a:r>
          </a:p>
        </p:txBody>
      </p:sp>
      <p:sp>
        <p:nvSpPr>
          <p:cNvPr name="AutoShape 35" id="35"/>
          <p:cNvSpPr/>
          <p:nvPr/>
        </p:nvSpPr>
        <p:spPr>
          <a:xfrm>
            <a:off x="6797689" y="4500865"/>
            <a:ext cx="411652" cy="0"/>
          </a:xfrm>
          <a:prstGeom prst="line">
            <a:avLst/>
          </a:prstGeom>
          <a:ln cap="flat" w="38100">
            <a:solidFill>
              <a:srgbClr val="000000"/>
            </a:solidFill>
            <a:prstDash val="solid"/>
            <a:headEnd type="none" len="sm" w="sm"/>
            <a:tailEnd type="none" len="sm" w="sm"/>
          </a:ln>
        </p:spPr>
      </p:sp>
      <p:sp>
        <p:nvSpPr>
          <p:cNvPr name="AutoShape 36" id="36"/>
          <p:cNvSpPr/>
          <p:nvPr/>
        </p:nvSpPr>
        <p:spPr>
          <a:xfrm flipV="true">
            <a:off x="11397971" y="4428044"/>
            <a:ext cx="507165"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379681" y="3113373"/>
            <a:ext cx="13702597" cy="2790756"/>
            <a:chOff x="0" y="0"/>
            <a:chExt cx="7591766" cy="1546186"/>
          </a:xfrm>
        </p:grpSpPr>
        <p:sp>
          <p:nvSpPr>
            <p:cNvPr name="Freeform 4" id="4"/>
            <p:cNvSpPr/>
            <p:nvPr/>
          </p:nvSpPr>
          <p:spPr>
            <a:xfrm flipH="false" flipV="false" rot="0">
              <a:off x="0" y="0"/>
              <a:ext cx="7591766" cy="1546186"/>
            </a:xfrm>
            <a:custGeom>
              <a:avLst/>
              <a:gdLst/>
              <a:ahLst/>
              <a:cxnLst/>
              <a:rect r="r" b="b" t="t" l="l"/>
              <a:pathLst>
                <a:path h="1546186" w="7591766">
                  <a:moveTo>
                    <a:pt x="7467305" y="1546186"/>
                  </a:moveTo>
                  <a:lnTo>
                    <a:pt x="124460" y="1546186"/>
                  </a:lnTo>
                  <a:cubicBezTo>
                    <a:pt x="55880" y="1546186"/>
                    <a:pt x="0" y="1490306"/>
                    <a:pt x="0" y="1421726"/>
                  </a:cubicBezTo>
                  <a:lnTo>
                    <a:pt x="0" y="124460"/>
                  </a:lnTo>
                  <a:cubicBezTo>
                    <a:pt x="0" y="55880"/>
                    <a:pt x="55880" y="0"/>
                    <a:pt x="124460" y="0"/>
                  </a:cubicBezTo>
                  <a:lnTo>
                    <a:pt x="7467306" y="0"/>
                  </a:lnTo>
                  <a:cubicBezTo>
                    <a:pt x="7535886" y="0"/>
                    <a:pt x="7591766" y="55880"/>
                    <a:pt x="7591766" y="124460"/>
                  </a:cubicBezTo>
                  <a:lnTo>
                    <a:pt x="7591766" y="1421726"/>
                  </a:lnTo>
                  <a:cubicBezTo>
                    <a:pt x="7591766" y="1490306"/>
                    <a:pt x="7535886" y="1546186"/>
                    <a:pt x="7467306" y="1546186"/>
                  </a:cubicBezTo>
                  <a:close/>
                </a:path>
              </a:pathLst>
            </a:custGeom>
            <a:solidFill>
              <a:srgbClr val="F6EEE8"/>
            </a:solidFill>
          </p:spPr>
        </p:sp>
      </p:grpSp>
      <p:grpSp>
        <p:nvGrpSpPr>
          <p:cNvPr name="Group 5" id="5"/>
          <p:cNvGrpSpPr/>
          <p:nvPr/>
        </p:nvGrpSpPr>
        <p:grpSpPr>
          <a:xfrm rot="0">
            <a:off x="2379681" y="6167220"/>
            <a:ext cx="13702597" cy="2790756"/>
            <a:chOff x="0" y="0"/>
            <a:chExt cx="7591766" cy="1546186"/>
          </a:xfrm>
        </p:grpSpPr>
        <p:sp>
          <p:nvSpPr>
            <p:cNvPr name="Freeform 6" id="6"/>
            <p:cNvSpPr/>
            <p:nvPr/>
          </p:nvSpPr>
          <p:spPr>
            <a:xfrm flipH="false" flipV="false" rot="0">
              <a:off x="0" y="0"/>
              <a:ext cx="7591766" cy="1546186"/>
            </a:xfrm>
            <a:custGeom>
              <a:avLst/>
              <a:gdLst/>
              <a:ahLst/>
              <a:cxnLst/>
              <a:rect r="r" b="b" t="t" l="l"/>
              <a:pathLst>
                <a:path h="1546186" w="7591766">
                  <a:moveTo>
                    <a:pt x="7467305" y="1546186"/>
                  </a:moveTo>
                  <a:lnTo>
                    <a:pt x="124460" y="1546186"/>
                  </a:lnTo>
                  <a:cubicBezTo>
                    <a:pt x="55880" y="1546186"/>
                    <a:pt x="0" y="1490306"/>
                    <a:pt x="0" y="1421726"/>
                  </a:cubicBezTo>
                  <a:lnTo>
                    <a:pt x="0" y="124460"/>
                  </a:lnTo>
                  <a:cubicBezTo>
                    <a:pt x="0" y="55880"/>
                    <a:pt x="55880" y="0"/>
                    <a:pt x="124460" y="0"/>
                  </a:cubicBezTo>
                  <a:lnTo>
                    <a:pt x="7467306" y="0"/>
                  </a:lnTo>
                  <a:cubicBezTo>
                    <a:pt x="7535886" y="0"/>
                    <a:pt x="7591766" y="55880"/>
                    <a:pt x="7591766" y="124460"/>
                  </a:cubicBezTo>
                  <a:lnTo>
                    <a:pt x="7591766" y="1421726"/>
                  </a:lnTo>
                  <a:cubicBezTo>
                    <a:pt x="7591766" y="1490306"/>
                    <a:pt x="7535886" y="1546186"/>
                    <a:pt x="7467306" y="1546186"/>
                  </a:cubicBezTo>
                  <a:close/>
                </a:path>
              </a:pathLst>
            </a:custGeom>
            <a:solidFill>
              <a:srgbClr val="D8CACA"/>
            </a:solidFill>
          </p:spPr>
        </p:sp>
      </p:grpSp>
      <p:sp>
        <p:nvSpPr>
          <p:cNvPr name="TextBox 7" id="7"/>
          <p:cNvSpPr txBox="true"/>
          <p:nvPr/>
        </p:nvSpPr>
        <p:spPr>
          <a:xfrm rot="0">
            <a:off x="2775632" y="1595724"/>
            <a:ext cx="12910696" cy="1250949"/>
          </a:xfrm>
          <a:prstGeom prst="rect">
            <a:avLst/>
          </a:prstGeom>
        </p:spPr>
        <p:txBody>
          <a:bodyPr anchor="t" rtlCol="false" tIns="0" lIns="0" bIns="0" rIns="0">
            <a:spAutoFit/>
          </a:bodyPr>
          <a:lstStyle/>
          <a:p>
            <a:pPr algn="ctr">
              <a:lnSpc>
                <a:spcPts val="9199"/>
              </a:lnSpc>
            </a:pPr>
            <a:r>
              <a:rPr lang="en-US" sz="9999" u="sng">
                <a:solidFill>
                  <a:srgbClr val="412D44"/>
                </a:solidFill>
                <a:latin typeface="Circe Contrast"/>
                <a:ea typeface="Circe Contrast"/>
                <a:cs typeface="Circe Contrast"/>
                <a:sym typeface="Circe Contrast"/>
              </a:rPr>
              <a:t>Herencia</a:t>
            </a:r>
          </a:p>
        </p:txBody>
      </p:sp>
      <p:sp>
        <p:nvSpPr>
          <p:cNvPr name="TextBox 8" id="8"/>
          <p:cNvSpPr txBox="true"/>
          <p:nvPr/>
        </p:nvSpPr>
        <p:spPr>
          <a:xfrm rot="0">
            <a:off x="2815058" y="3526299"/>
            <a:ext cx="8198384" cy="481239"/>
          </a:xfrm>
          <a:prstGeom prst="rect">
            <a:avLst/>
          </a:prstGeom>
        </p:spPr>
        <p:txBody>
          <a:bodyPr anchor="t" rtlCol="false" tIns="0" lIns="0" bIns="0" rIns="0">
            <a:spAutoFit/>
          </a:bodyPr>
          <a:lstStyle/>
          <a:p>
            <a:pPr algn="l">
              <a:lnSpc>
                <a:spcPts val="3925"/>
              </a:lnSpc>
            </a:pPr>
            <a:r>
              <a:rPr lang="en-US" b="true" sz="2803" spc="-78">
                <a:solidFill>
                  <a:srgbClr val="583D5B"/>
                </a:solidFill>
                <a:latin typeface="Circe Bold"/>
                <a:ea typeface="Circe Bold"/>
                <a:cs typeface="Circe Bold"/>
                <a:sym typeface="Circe Bold"/>
              </a:rPr>
              <a:t>¿QUÉ ES LA HERENCIA?</a:t>
            </a:r>
          </a:p>
        </p:txBody>
      </p:sp>
      <p:sp>
        <p:nvSpPr>
          <p:cNvPr name="TextBox 9" id="9"/>
          <p:cNvSpPr txBox="true"/>
          <p:nvPr/>
        </p:nvSpPr>
        <p:spPr>
          <a:xfrm rot="0">
            <a:off x="2815058" y="4167141"/>
            <a:ext cx="12676156" cy="1523330"/>
          </a:xfrm>
          <a:prstGeom prst="rect">
            <a:avLst/>
          </a:prstGeom>
        </p:spPr>
        <p:txBody>
          <a:bodyPr anchor="t" rtlCol="false" tIns="0" lIns="0" bIns="0" rIns="0">
            <a:spAutoFit/>
          </a:bodyPr>
          <a:lstStyle/>
          <a:p>
            <a:pPr algn="l">
              <a:lnSpc>
                <a:spcPts val="3092"/>
              </a:lnSpc>
            </a:pPr>
            <a:r>
              <a:rPr lang="en-US" sz="2208">
                <a:solidFill>
                  <a:srgbClr val="000000"/>
                </a:solidFill>
                <a:latin typeface="Circe"/>
                <a:ea typeface="Circe"/>
                <a:cs typeface="Circe"/>
                <a:sym typeface="Circe"/>
              </a:rPr>
              <a:t>La herencia es una de las relaciones más frecuentes en la implementación del paradigma orientado a objetos. Como se indicó en el componente formativo previo, es posible crear relaciones que vayan desde conceptos (clases) generales hasta específicos (especialización), o a la inversa, desde los específicos hacia los generales (generalización).</a:t>
            </a:r>
          </a:p>
        </p:txBody>
      </p:sp>
      <p:sp>
        <p:nvSpPr>
          <p:cNvPr name="TextBox 10" id="10"/>
          <p:cNvSpPr txBox="true"/>
          <p:nvPr/>
        </p:nvSpPr>
        <p:spPr>
          <a:xfrm rot="0">
            <a:off x="2775632" y="7228104"/>
            <a:ext cx="12676156" cy="1137996"/>
          </a:xfrm>
          <a:prstGeom prst="rect">
            <a:avLst/>
          </a:prstGeom>
        </p:spPr>
        <p:txBody>
          <a:bodyPr anchor="t" rtlCol="false" tIns="0" lIns="0" bIns="0" rIns="0">
            <a:spAutoFit/>
          </a:bodyPr>
          <a:lstStyle/>
          <a:p>
            <a:pPr algn="l">
              <a:lnSpc>
                <a:spcPts val="3092"/>
              </a:lnSpc>
            </a:pPr>
            <a:r>
              <a:rPr lang="en-US" sz="2208">
                <a:solidFill>
                  <a:srgbClr val="000000"/>
                </a:solidFill>
                <a:latin typeface="Circe"/>
                <a:ea typeface="Circe"/>
                <a:cs typeface="Circe"/>
                <a:sym typeface="Circe"/>
              </a:rPr>
              <a:t>Se representa con una tabla madre de donde hay otras tablas hijas que con líneas punteadas de flechas se dirigen a la tabla made, heredando atributos y métodos definidos en la tabla madre. Estos datos heredados de la tabla madre no aparecen en la tabla hija evitando así la duplicidad.</a:t>
            </a:r>
          </a:p>
        </p:txBody>
      </p:sp>
      <p:sp>
        <p:nvSpPr>
          <p:cNvPr name="Freeform 11" id="11"/>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2815058" y="6580404"/>
            <a:ext cx="8198384" cy="481239"/>
          </a:xfrm>
          <a:prstGeom prst="rect">
            <a:avLst/>
          </a:prstGeom>
        </p:spPr>
        <p:txBody>
          <a:bodyPr anchor="t" rtlCol="false" tIns="0" lIns="0" bIns="0" rIns="0">
            <a:spAutoFit/>
          </a:bodyPr>
          <a:lstStyle/>
          <a:p>
            <a:pPr algn="l">
              <a:lnSpc>
                <a:spcPts val="3925"/>
              </a:lnSpc>
            </a:pPr>
            <a:r>
              <a:rPr lang="en-US" b="true" sz="2803" spc="-78">
                <a:solidFill>
                  <a:srgbClr val="583D5B"/>
                </a:solidFill>
                <a:latin typeface="Circe Bold"/>
                <a:ea typeface="Circe Bold"/>
                <a:cs typeface="Circe Bold"/>
                <a:sym typeface="Circe Bold"/>
              </a:rPr>
              <a:t>¿COMO SE REPRESENTA GRAFICAMENTE?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Freeform 2" id="2"/>
          <p:cNvSpPr/>
          <p:nvPr/>
        </p:nvSpPr>
        <p:spPr>
          <a:xfrm flipH="false" flipV="false" rot="0">
            <a:off x="1867974" y="3169027"/>
            <a:ext cx="7708360" cy="6430975"/>
          </a:xfrm>
          <a:custGeom>
            <a:avLst/>
            <a:gdLst/>
            <a:ahLst/>
            <a:cxnLst/>
            <a:rect r="r" b="b" t="t" l="l"/>
            <a:pathLst>
              <a:path h="6430975" w="7708360">
                <a:moveTo>
                  <a:pt x="0" y="0"/>
                </a:moveTo>
                <a:lnTo>
                  <a:pt x="7708360" y="0"/>
                </a:lnTo>
                <a:lnTo>
                  <a:pt x="7708360" y="6430975"/>
                </a:lnTo>
                <a:lnTo>
                  <a:pt x="0" y="6430975"/>
                </a:lnTo>
                <a:lnTo>
                  <a:pt x="0" y="0"/>
                </a:lnTo>
                <a:close/>
              </a:path>
            </a:pathLst>
          </a:custGeom>
          <a:blipFill>
            <a:blip r:embed="rId2"/>
            <a:stretch>
              <a:fillRect l="0" t="0" r="0" b="0"/>
            </a:stretch>
          </a:blipFill>
        </p:spPr>
      </p:sp>
      <p:sp>
        <p:nvSpPr>
          <p:cNvPr name="TextBox 3" id="3"/>
          <p:cNvSpPr txBox="true"/>
          <p:nvPr/>
        </p:nvSpPr>
        <p:spPr>
          <a:xfrm rot="0">
            <a:off x="1867974" y="1308240"/>
            <a:ext cx="14552052" cy="1514475"/>
          </a:xfrm>
          <a:prstGeom prst="rect">
            <a:avLst/>
          </a:prstGeom>
        </p:spPr>
        <p:txBody>
          <a:bodyPr anchor="t" rtlCol="false" tIns="0" lIns="0" bIns="0" rIns="0">
            <a:spAutoFit/>
          </a:bodyPr>
          <a:lstStyle/>
          <a:p>
            <a:pPr algn="ctr" marL="0" indent="0" lvl="0">
              <a:lnSpc>
                <a:spcPts val="11999"/>
              </a:lnSpc>
              <a:spcBef>
                <a:spcPct val="0"/>
              </a:spcBef>
            </a:pPr>
            <a:r>
              <a:rPr lang="en-US" sz="9999">
                <a:solidFill>
                  <a:srgbClr val="412D44"/>
                </a:solidFill>
                <a:latin typeface="Circe Contrast"/>
                <a:ea typeface="Circe Contrast"/>
                <a:cs typeface="Circe Contrast"/>
                <a:sym typeface="Circe Contrast"/>
              </a:rPr>
              <a:t>Ejemplo de herencia</a:t>
            </a:r>
          </a:p>
        </p:txBody>
      </p:sp>
      <p:sp>
        <p:nvSpPr>
          <p:cNvPr name="TextBox 4" id="4"/>
          <p:cNvSpPr txBox="true"/>
          <p:nvPr/>
        </p:nvSpPr>
        <p:spPr>
          <a:xfrm rot="0">
            <a:off x="10030528" y="4560794"/>
            <a:ext cx="6976531" cy="3580765"/>
          </a:xfrm>
          <a:prstGeom prst="rect">
            <a:avLst/>
          </a:prstGeom>
        </p:spPr>
        <p:txBody>
          <a:bodyPr anchor="t" rtlCol="false" tIns="0" lIns="0" bIns="0" rIns="0">
            <a:spAutoFit/>
          </a:bodyPr>
          <a:lstStyle/>
          <a:p>
            <a:pPr algn="ctr">
              <a:lnSpc>
                <a:spcPts val="4759"/>
              </a:lnSpc>
            </a:pPr>
            <a:r>
              <a:rPr lang="en-US" sz="3399">
                <a:solidFill>
                  <a:srgbClr val="412D44"/>
                </a:solidFill>
                <a:latin typeface="Open Sans"/>
                <a:ea typeface="Open Sans"/>
                <a:cs typeface="Open Sans"/>
                <a:sym typeface="Open Sans"/>
              </a:rPr>
              <a:t>Aquí podeos ver la tabla madre que es “Animal” que tiene como atributo  “respirar”, donde esta tabla tiene tablas hijas (pez, perro y gato) que heredan el atributo “respirar”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7961" y="1028700"/>
            <a:ext cx="14912308" cy="8229600"/>
            <a:chOff x="0" y="0"/>
            <a:chExt cx="13793294" cy="7612054"/>
          </a:xfrm>
        </p:grpSpPr>
        <p:sp>
          <p:nvSpPr>
            <p:cNvPr name="Freeform 3" id="3"/>
            <p:cNvSpPr/>
            <p:nvPr/>
          </p:nvSpPr>
          <p:spPr>
            <a:xfrm flipH="false" flipV="false" rot="0">
              <a:off x="0" y="0"/>
              <a:ext cx="13793295" cy="7612054"/>
            </a:xfrm>
            <a:custGeom>
              <a:avLst/>
              <a:gdLst/>
              <a:ahLst/>
              <a:cxnLst/>
              <a:rect r="r" b="b" t="t" l="l"/>
              <a:pathLst>
                <a:path h="7612054" w="13793295">
                  <a:moveTo>
                    <a:pt x="13668834" y="7612054"/>
                  </a:moveTo>
                  <a:lnTo>
                    <a:pt x="124460" y="7612054"/>
                  </a:lnTo>
                  <a:cubicBezTo>
                    <a:pt x="55880" y="7612054"/>
                    <a:pt x="0" y="7556174"/>
                    <a:pt x="0" y="7487593"/>
                  </a:cubicBezTo>
                  <a:lnTo>
                    <a:pt x="0" y="124460"/>
                  </a:lnTo>
                  <a:cubicBezTo>
                    <a:pt x="0" y="55880"/>
                    <a:pt x="55880" y="0"/>
                    <a:pt x="124460" y="0"/>
                  </a:cubicBezTo>
                  <a:lnTo>
                    <a:pt x="13668834" y="0"/>
                  </a:lnTo>
                  <a:cubicBezTo>
                    <a:pt x="13737414" y="0"/>
                    <a:pt x="13793295" y="55880"/>
                    <a:pt x="13793295" y="124460"/>
                  </a:cubicBezTo>
                  <a:lnTo>
                    <a:pt x="13793295" y="7487594"/>
                  </a:lnTo>
                  <a:cubicBezTo>
                    <a:pt x="13793295" y="7556174"/>
                    <a:pt x="13737414" y="7612054"/>
                    <a:pt x="13668834" y="7612054"/>
                  </a:cubicBezTo>
                  <a:close/>
                </a:path>
              </a:pathLst>
            </a:custGeom>
            <a:solidFill>
              <a:srgbClr val="EDA7A7"/>
            </a:solidFill>
          </p:spPr>
        </p:sp>
      </p:grpSp>
      <p:sp>
        <p:nvSpPr>
          <p:cNvPr name="TextBox 4" id="4"/>
          <p:cNvSpPr txBox="true"/>
          <p:nvPr/>
        </p:nvSpPr>
        <p:spPr>
          <a:xfrm rot="0">
            <a:off x="3290845" y="2381025"/>
            <a:ext cx="5654348" cy="898826"/>
          </a:xfrm>
          <a:prstGeom prst="rect">
            <a:avLst/>
          </a:prstGeom>
        </p:spPr>
        <p:txBody>
          <a:bodyPr anchor="t" rtlCol="false" tIns="0" lIns="0" bIns="0" rIns="0">
            <a:spAutoFit/>
          </a:bodyPr>
          <a:lstStyle/>
          <a:p>
            <a:pPr algn="l" marL="0" indent="0" lvl="0">
              <a:lnSpc>
                <a:spcPts val="6901"/>
              </a:lnSpc>
              <a:spcBef>
                <a:spcPct val="0"/>
              </a:spcBef>
            </a:pPr>
            <a:r>
              <a:rPr lang="en-US" sz="6273">
                <a:solidFill>
                  <a:srgbClr val="FFFFFF"/>
                </a:solidFill>
                <a:latin typeface="Circe Contrast"/>
                <a:ea typeface="Circe Contrast"/>
                <a:cs typeface="Circe Contrast"/>
                <a:sym typeface="Circe Contrast"/>
              </a:rPr>
              <a:t>AGREGACIÓN</a:t>
            </a:r>
          </a:p>
        </p:txBody>
      </p:sp>
      <p:sp>
        <p:nvSpPr>
          <p:cNvPr name="TextBox 5" id="5"/>
          <p:cNvSpPr txBox="true"/>
          <p:nvPr/>
        </p:nvSpPr>
        <p:spPr>
          <a:xfrm rot="0">
            <a:off x="3290845" y="3450573"/>
            <a:ext cx="11721286" cy="4564521"/>
          </a:xfrm>
          <a:prstGeom prst="rect">
            <a:avLst/>
          </a:prstGeom>
        </p:spPr>
        <p:txBody>
          <a:bodyPr anchor="t" rtlCol="false" tIns="0" lIns="0" bIns="0" rIns="0">
            <a:spAutoFit/>
          </a:bodyPr>
          <a:lstStyle/>
          <a:p>
            <a:pPr algn="l">
              <a:lnSpc>
                <a:spcPts val="3603"/>
              </a:lnSpc>
            </a:pPr>
            <a:r>
              <a:rPr lang="en-US" sz="2573">
                <a:solidFill>
                  <a:srgbClr val="994A66"/>
                </a:solidFill>
                <a:latin typeface="Circe"/>
                <a:ea typeface="Circe"/>
                <a:cs typeface="Circe"/>
                <a:sym typeface="Circe"/>
              </a:rPr>
              <a:t>Se refiere a la formación de una clase particular como resultado de una clase agregada o construida como una colección. Por ejemplo, la clase “biblioteca” está formada por uno o varios libros, entre otros materiales. </a:t>
            </a:r>
          </a:p>
          <a:p>
            <a:pPr algn="l">
              <a:lnSpc>
                <a:spcPts val="3603"/>
              </a:lnSpc>
            </a:pPr>
            <a:r>
              <a:rPr lang="en-US" sz="2573">
                <a:solidFill>
                  <a:srgbClr val="994A66"/>
                </a:solidFill>
                <a:latin typeface="Circe"/>
                <a:ea typeface="Circe"/>
                <a:cs typeface="Circe"/>
                <a:sym typeface="Circe"/>
              </a:rPr>
              <a:t>En la agregación, las clases contenidas no dependen fuertemente del ciclo de vida del contenedor. En el mismo ejemplo, los libros seguirán siéndolo aunque se disuelva la biblioteca. Para mostrar la agregación en un diagrama, dibuje una línea desde la clase padre hasta la clase hija con una forma de diamante cerca de la clase padre. </a:t>
            </a:r>
          </a:p>
          <a:p>
            <a:pPr algn="l" marL="0" indent="0" lvl="0">
              <a:lnSpc>
                <a:spcPts val="3603"/>
              </a:lnSpc>
              <a:spcBef>
                <a:spcPct val="0"/>
              </a:spcBef>
            </a:pPr>
            <a:r>
              <a:rPr lang="en-US" sz="2573">
                <a:solidFill>
                  <a:srgbClr val="994A66"/>
                </a:solidFill>
                <a:latin typeface="Circe"/>
                <a:ea typeface="Circe"/>
                <a:cs typeface="Circe"/>
                <a:sym typeface="Circe"/>
              </a:rPr>
              <a:t>Para mostrar la agregación en un diagrama, dibuje una línea desde la clase padre hasta la clase hija con una forma de diamante cerca de la clase madre.</a:t>
            </a:r>
          </a:p>
        </p:txBody>
      </p:sp>
      <p:sp>
        <p:nvSpPr>
          <p:cNvPr name="Freeform 6" id="6"/>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sp>
        <p:nvSpPr>
          <p:cNvPr name="AutoShape 2" id="2"/>
          <p:cNvSpPr/>
          <p:nvPr/>
        </p:nvSpPr>
        <p:spPr>
          <a:xfrm rot="0">
            <a:off x="-970562" y="652445"/>
            <a:ext cx="19821877" cy="0"/>
          </a:xfrm>
          <a:prstGeom prst="line">
            <a:avLst/>
          </a:prstGeom>
          <a:ln cap="flat" w="114300">
            <a:solidFill>
              <a:srgbClr val="FFFFFF"/>
            </a:solidFill>
            <a:prstDash val="solid"/>
            <a:headEnd type="none" len="sm" w="sm"/>
            <a:tailEnd type="none" len="sm" w="sm"/>
          </a:ln>
        </p:spPr>
      </p:sp>
      <p:sp>
        <p:nvSpPr>
          <p:cNvPr name="AutoShape 3" id="3"/>
          <p:cNvSpPr/>
          <p:nvPr/>
        </p:nvSpPr>
        <p:spPr>
          <a:xfrm rot="0">
            <a:off x="-818960" y="404795"/>
            <a:ext cx="19821877" cy="0"/>
          </a:xfrm>
          <a:prstGeom prst="line">
            <a:avLst/>
          </a:prstGeom>
          <a:ln cap="flat" w="114300">
            <a:solidFill>
              <a:srgbClr val="FFFFFF"/>
            </a:solidFill>
            <a:prstDash val="solid"/>
            <a:headEnd type="none" len="sm" w="sm"/>
            <a:tailEnd type="none" len="sm" w="sm"/>
          </a:ln>
        </p:spPr>
      </p:sp>
      <p:sp>
        <p:nvSpPr>
          <p:cNvPr name="AutoShape 4" id="4"/>
          <p:cNvSpPr/>
          <p:nvPr/>
        </p:nvSpPr>
        <p:spPr>
          <a:xfrm rot="0">
            <a:off x="-574329" y="9672305"/>
            <a:ext cx="19821877" cy="0"/>
          </a:xfrm>
          <a:prstGeom prst="line">
            <a:avLst/>
          </a:prstGeom>
          <a:ln cap="flat" w="114300">
            <a:solidFill>
              <a:srgbClr val="FFFFFF"/>
            </a:solidFill>
            <a:prstDash val="solid"/>
            <a:headEnd type="none" len="sm" w="sm"/>
            <a:tailEnd type="none" len="sm" w="sm"/>
          </a:ln>
        </p:spPr>
      </p:sp>
      <p:sp>
        <p:nvSpPr>
          <p:cNvPr name="AutoShape 5" id="5"/>
          <p:cNvSpPr/>
          <p:nvPr/>
        </p:nvSpPr>
        <p:spPr>
          <a:xfrm rot="0">
            <a:off x="-422728" y="9424655"/>
            <a:ext cx="19821877" cy="0"/>
          </a:xfrm>
          <a:prstGeom prst="line">
            <a:avLst/>
          </a:prstGeom>
          <a:ln cap="flat" w="114300">
            <a:solidFill>
              <a:srgbClr val="FFFFFF"/>
            </a:solidFill>
            <a:prstDash val="solid"/>
            <a:headEnd type="none" len="sm" w="sm"/>
            <a:tailEnd type="none" len="sm" w="sm"/>
          </a:ln>
        </p:spPr>
      </p:sp>
      <p:sp>
        <p:nvSpPr>
          <p:cNvPr name="Freeform 6" id="6"/>
          <p:cNvSpPr/>
          <p:nvPr/>
        </p:nvSpPr>
        <p:spPr>
          <a:xfrm flipH="false" flipV="false" rot="0">
            <a:off x="721207" y="3035627"/>
            <a:ext cx="9582764" cy="5307656"/>
          </a:xfrm>
          <a:custGeom>
            <a:avLst/>
            <a:gdLst/>
            <a:ahLst/>
            <a:cxnLst/>
            <a:rect r="r" b="b" t="t" l="l"/>
            <a:pathLst>
              <a:path h="5307656" w="9582764">
                <a:moveTo>
                  <a:pt x="0" y="0"/>
                </a:moveTo>
                <a:lnTo>
                  <a:pt x="9582763" y="0"/>
                </a:lnTo>
                <a:lnTo>
                  <a:pt x="9582763" y="5307656"/>
                </a:lnTo>
                <a:lnTo>
                  <a:pt x="0" y="5307656"/>
                </a:lnTo>
                <a:lnTo>
                  <a:pt x="0" y="0"/>
                </a:lnTo>
                <a:close/>
              </a:path>
            </a:pathLst>
          </a:custGeom>
          <a:blipFill>
            <a:blip r:embed="rId2"/>
            <a:stretch>
              <a:fillRect l="0" t="0" r="0" b="0"/>
            </a:stretch>
          </a:blipFill>
        </p:spPr>
      </p:sp>
      <p:sp>
        <p:nvSpPr>
          <p:cNvPr name="TextBox 7" id="7"/>
          <p:cNvSpPr txBox="true"/>
          <p:nvPr/>
        </p:nvSpPr>
        <p:spPr>
          <a:xfrm rot="0">
            <a:off x="1185039" y="1285875"/>
            <a:ext cx="16074261" cy="1235402"/>
          </a:xfrm>
          <a:prstGeom prst="rect">
            <a:avLst/>
          </a:prstGeom>
        </p:spPr>
        <p:txBody>
          <a:bodyPr anchor="t" rtlCol="false" tIns="0" lIns="0" bIns="0" rIns="0">
            <a:spAutoFit/>
          </a:bodyPr>
          <a:lstStyle/>
          <a:p>
            <a:pPr algn="ctr">
              <a:lnSpc>
                <a:spcPts val="9044"/>
              </a:lnSpc>
            </a:pPr>
            <a:r>
              <a:rPr lang="en-US" sz="9830">
                <a:solidFill>
                  <a:srgbClr val="412D44"/>
                </a:solidFill>
                <a:latin typeface="Circe Contrast"/>
                <a:ea typeface="Circe Contrast"/>
                <a:cs typeface="Circe Contrast"/>
                <a:sym typeface="Circe Contrast"/>
              </a:rPr>
              <a:t>Ejemplo de agregación</a:t>
            </a:r>
          </a:p>
        </p:txBody>
      </p:sp>
      <p:sp>
        <p:nvSpPr>
          <p:cNvPr name="TextBox 8" id="8"/>
          <p:cNvSpPr txBox="true"/>
          <p:nvPr/>
        </p:nvSpPr>
        <p:spPr>
          <a:xfrm rot="0">
            <a:off x="10533044" y="2721302"/>
            <a:ext cx="6955092" cy="5981065"/>
          </a:xfrm>
          <a:prstGeom prst="rect">
            <a:avLst/>
          </a:prstGeom>
        </p:spPr>
        <p:txBody>
          <a:bodyPr anchor="t" rtlCol="false" tIns="0" lIns="0" bIns="0" rIns="0">
            <a:spAutoFit/>
          </a:bodyPr>
          <a:lstStyle/>
          <a:p>
            <a:pPr algn="ctr">
              <a:lnSpc>
                <a:spcPts val="4759"/>
              </a:lnSpc>
            </a:pPr>
            <a:r>
              <a:rPr lang="en-US" sz="3399">
                <a:solidFill>
                  <a:srgbClr val="412D44"/>
                </a:solidFill>
                <a:latin typeface="Open Sans"/>
                <a:ea typeface="Open Sans"/>
                <a:cs typeface="Open Sans"/>
                <a:sym typeface="Open Sans"/>
              </a:rPr>
              <a:t>Aquí podemos ver como la tabla madre es ordenador y con el rombo vacío tiene la relación de agregación nombre¿ando diferentes tablas que componen el ordenador. Una de estas tablas de la relación agregación con ordenador también tiene otra relación de agregación teniendo asi tablas hijas.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0">
            <a:off x="10062234" y="2423422"/>
            <a:ext cx="227501" cy="5623212"/>
            <a:chOff x="0" y="0"/>
            <a:chExt cx="303335" cy="7497616"/>
          </a:xfrm>
        </p:grpSpPr>
        <p:sp>
          <p:nvSpPr>
            <p:cNvPr name="AutoShape 3" id="3"/>
            <p:cNvSpPr/>
            <p:nvPr/>
          </p:nvSpPr>
          <p:spPr>
            <a:xfrm rot="0">
              <a:off x="138967" y="138967"/>
              <a:ext cx="25400" cy="7219681"/>
            </a:xfrm>
            <a:prstGeom prst="rect">
              <a:avLst/>
            </a:prstGeom>
            <a:solidFill>
              <a:srgbClr val="725076"/>
            </a:solidFill>
          </p:spPr>
        </p:sp>
        <p:grpSp>
          <p:nvGrpSpPr>
            <p:cNvPr name="Group 4" id="4"/>
            <p:cNvGrpSpPr/>
            <p:nvPr/>
          </p:nvGrpSpPr>
          <p:grpSpPr>
            <a:xfrm rot="0">
              <a:off x="25400" y="0"/>
              <a:ext cx="277935" cy="277935"/>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6" id="6"/>
            <p:cNvGrpSpPr/>
            <p:nvPr/>
          </p:nvGrpSpPr>
          <p:grpSpPr>
            <a:xfrm rot="0">
              <a:off x="25400" y="4813120"/>
              <a:ext cx="277935" cy="277935"/>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8" id="8"/>
            <p:cNvGrpSpPr/>
            <p:nvPr/>
          </p:nvGrpSpPr>
          <p:grpSpPr>
            <a:xfrm rot="0">
              <a:off x="0" y="2406560"/>
              <a:ext cx="277935" cy="277935"/>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10" id="10"/>
            <p:cNvGrpSpPr/>
            <p:nvPr/>
          </p:nvGrpSpPr>
          <p:grpSpPr>
            <a:xfrm rot="0">
              <a:off x="0" y="7219681"/>
              <a:ext cx="277935" cy="277935"/>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grpSp>
        <p:nvGrpSpPr>
          <p:cNvPr name="Group 12" id="12"/>
          <p:cNvGrpSpPr/>
          <p:nvPr/>
        </p:nvGrpSpPr>
        <p:grpSpPr>
          <a:xfrm rot="0">
            <a:off x="-2274500" y="-304124"/>
            <a:ext cx="11655442" cy="11209454"/>
            <a:chOff x="0" y="0"/>
            <a:chExt cx="3069746" cy="2952284"/>
          </a:xfrm>
        </p:grpSpPr>
        <p:sp>
          <p:nvSpPr>
            <p:cNvPr name="Freeform 13" id="13"/>
            <p:cNvSpPr/>
            <p:nvPr/>
          </p:nvSpPr>
          <p:spPr>
            <a:xfrm flipH="false" flipV="false" rot="0">
              <a:off x="0" y="0"/>
              <a:ext cx="3069746" cy="2952284"/>
            </a:xfrm>
            <a:custGeom>
              <a:avLst/>
              <a:gdLst/>
              <a:ahLst/>
              <a:cxnLst/>
              <a:rect r="r" b="b" t="t" l="l"/>
              <a:pathLst>
                <a:path h="2952284" w="3069746">
                  <a:moveTo>
                    <a:pt x="0" y="0"/>
                  </a:moveTo>
                  <a:lnTo>
                    <a:pt x="3069746" y="0"/>
                  </a:lnTo>
                  <a:lnTo>
                    <a:pt x="3069746" y="2952284"/>
                  </a:lnTo>
                  <a:lnTo>
                    <a:pt x="0" y="2952284"/>
                  </a:lnTo>
                  <a:close/>
                </a:path>
              </a:pathLst>
            </a:custGeom>
            <a:solidFill>
              <a:srgbClr val="FFFFFF"/>
            </a:solidFill>
          </p:spPr>
        </p:sp>
        <p:sp>
          <p:nvSpPr>
            <p:cNvPr name="TextBox 14" id="14"/>
            <p:cNvSpPr txBox="true"/>
            <p:nvPr/>
          </p:nvSpPr>
          <p:spPr>
            <a:xfrm>
              <a:off x="0" y="-47625"/>
              <a:ext cx="3069746" cy="2999909"/>
            </a:xfrm>
            <a:prstGeom prst="rect">
              <a:avLst/>
            </a:prstGeom>
          </p:spPr>
          <p:txBody>
            <a:bodyPr anchor="ctr" rtlCol="false" tIns="50800" lIns="50800" bIns="50800" rIns="50800"/>
            <a:lstStyle/>
            <a:p>
              <a:pPr algn="ctr">
                <a:lnSpc>
                  <a:spcPts val="3413"/>
                </a:lnSpc>
              </a:pPr>
            </a:p>
          </p:txBody>
        </p:sp>
      </p:grpSp>
      <p:grpSp>
        <p:nvGrpSpPr>
          <p:cNvPr name="Group 15" id="15"/>
          <p:cNvGrpSpPr>
            <a:grpSpLocks noChangeAspect="true"/>
          </p:cNvGrpSpPr>
          <p:nvPr/>
        </p:nvGrpSpPr>
        <p:grpSpPr>
          <a:xfrm rot="0">
            <a:off x="13008776" y="9258300"/>
            <a:ext cx="5246370" cy="5246370"/>
            <a:chOff x="0" y="0"/>
            <a:chExt cx="6355080" cy="6355080"/>
          </a:xfrm>
        </p:grpSpPr>
        <p:sp>
          <p:nvSpPr>
            <p:cNvPr name="Freeform 16" id="16"/>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grpSp>
        <p:nvGrpSpPr>
          <p:cNvPr name="Group 17" id="17"/>
          <p:cNvGrpSpPr>
            <a:grpSpLocks noChangeAspect="true"/>
          </p:cNvGrpSpPr>
          <p:nvPr/>
        </p:nvGrpSpPr>
        <p:grpSpPr>
          <a:xfrm rot="0">
            <a:off x="1613152" y="-4217670"/>
            <a:ext cx="5246370" cy="5246370"/>
            <a:chOff x="0" y="0"/>
            <a:chExt cx="6355080" cy="6355080"/>
          </a:xfrm>
        </p:grpSpPr>
        <p:sp>
          <p:nvSpPr>
            <p:cNvPr name="Freeform 18" id="18"/>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sp>
        <p:nvSpPr>
          <p:cNvPr name="Freeform 19" id="19"/>
          <p:cNvSpPr/>
          <p:nvPr/>
        </p:nvSpPr>
        <p:spPr>
          <a:xfrm flipH="false" flipV="false" rot="0">
            <a:off x="2251495" y="2776255"/>
            <a:ext cx="4133478" cy="6482045"/>
          </a:xfrm>
          <a:custGeom>
            <a:avLst/>
            <a:gdLst/>
            <a:ahLst/>
            <a:cxnLst/>
            <a:rect r="r" b="b" t="t" l="l"/>
            <a:pathLst>
              <a:path h="6482045" w="4133478">
                <a:moveTo>
                  <a:pt x="0" y="0"/>
                </a:moveTo>
                <a:lnTo>
                  <a:pt x="4133478" y="0"/>
                </a:lnTo>
                <a:lnTo>
                  <a:pt x="4133478" y="6482045"/>
                </a:lnTo>
                <a:lnTo>
                  <a:pt x="0" y="6482045"/>
                </a:lnTo>
                <a:lnTo>
                  <a:pt x="0" y="0"/>
                </a:lnTo>
                <a:close/>
              </a:path>
            </a:pathLst>
          </a:custGeom>
          <a:blipFill>
            <a:blip r:embed="rId2"/>
            <a:stretch>
              <a:fillRect l="0" t="0" r="0" b="0"/>
            </a:stretch>
          </a:blipFill>
        </p:spPr>
      </p:sp>
      <p:sp>
        <p:nvSpPr>
          <p:cNvPr name="TextBox 20" id="20"/>
          <p:cNvSpPr txBox="true"/>
          <p:nvPr/>
        </p:nvSpPr>
        <p:spPr>
          <a:xfrm rot="0">
            <a:off x="1028700" y="1114425"/>
            <a:ext cx="7026165" cy="1410772"/>
          </a:xfrm>
          <a:prstGeom prst="rect">
            <a:avLst/>
          </a:prstGeom>
        </p:spPr>
        <p:txBody>
          <a:bodyPr anchor="t" rtlCol="false" tIns="0" lIns="0" bIns="0" rIns="0">
            <a:spAutoFit/>
          </a:bodyPr>
          <a:lstStyle/>
          <a:p>
            <a:pPr algn="l">
              <a:lnSpc>
                <a:spcPts val="10817"/>
              </a:lnSpc>
            </a:pPr>
            <a:r>
              <a:rPr lang="en-US" sz="9834">
                <a:solidFill>
                  <a:srgbClr val="412D44"/>
                </a:solidFill>
                <a:latin typeface="Circe Contrast"/>
                <a:ea typeface="Circe Contrast"/>
                <a:cs typeface="Circe Contrast"/>
                <a:sym typeface="Circe Contrast"/>
              </a:rPr>
              <a:t>Composición</a:t>
            </a:r>
          </a:p>
        </p:txBody>
      </p:sp>
      <p:sp>
        <p:nvSpPr>
          <p:cNvPr name="TextBox 21" id="21"/>
          <p:cNvSpPr txBox="true"/>
          <p:nvPr/>
        </p:nvSpPr>
        <p:spPr>
          <a:xfrm rot="0">
            <a:off x="10559121" y="2306627"/>
            <a:ext cx="7108991" cy="6143625"/>
          </a:xfrm>
          <a:prstGeom prst="rect">
            <a:avLst/>
          </a:prstGeom>
        </p:spPr>
        <p:txBody>
          <a:bodyPr anchor="t" rtlCol="false" tIns="0" lIns="0" bIns="0" rIns="0">
            <a:spAutoFit/>
          </a:bodyPr>
          <a:lstStyle/>
          <a:p>
            <a:pPr algn="l" marL="0" indent="0" lvl="0">
              <a:lnSpc>
                <a:spcPts val="3249"/>
              </a:lnSpc>
              <a:spcBef>
                <a:spcPct val="0"/>
              </a:spcBef>
            </a:pPr>
            <a:r>
              <a:rPr lang="en-US" b="true" sz="2707">
                <a:solidFill>
                  <a:srgbClr val="583D5B"/>
                </a:solidFill>
                <a:latin typeface="Circe Bold"/>
                <a:ea typeface="Circe Bold"/>
                <a:cs typeface="Circe Bold"/>
                <a:sym typeface="Circe Bold"/>
              </a:rPr>
              <a:t>La relación de composición es muy similar a la relación de agregación. con la única diferencia de su propósito clave de enfatizar la dependencia de la clase contenida al ciclo de vida de la clase contenedora. Es decir, la clase contenida será borrada cuando la clase contenedora sea destruida. Por ejemplo, el bolsillo lateral de una bandolera también dejará de existir una vez que ésta se destruya. Para mostrar una relación de composición en un diagrama UML, utilice una línea direccional que conecte las dos clases, con una forma de diamante rellena adyacente a la clase contenedora y la flecha direccional a la clase contenida.</a:t>
            </a:r>
          </a:p>
        </p:txBody>
      </p:sp>
      <p:sp>
        <p:nvSpPr>
          <p:cNvPr name="TextBox 22" id="22"/>
          <p:cNvSpPr txBox="true"/>
          <p:nvPr/>
        </p:nvSpPr>
        <p:spPr>
          <a:xfrm rot="0">
            <a:off x="9442199" y="8934767"/>
            <a:ext cx="6189762"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ayudame a buscar un ejemplo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4314" y="1870270"/>
            <a:ext cx="6386353" cy="6546460"/>
            <a:chOff x="0" y="0"/>
            <a:chExt cx="5907123" cy="6055216"/>
          </a:xfrm>
        </p:grpSpPr>
        <p:sp>
          <p:nvSpPr>
            <p:cNvPr name="Freeform 3" id="3"/>
            <p:cNvSpPr/>
            <p:nvPr/>
          </p:nvSpPr>
          <p:spPr>
            <a:xfrm flipH="false" flipV="false" rot="0">
              <a:off x="0" y="0"/>
              <a:ext cx="5907123" cy="6055216"/>
            </a:xfrm>
            <a:custGeom>
              <a:avLst/>
              <a:gdLst/>
              <a:ahLst/>
              <a:cxnLst/>
              <a:rect r="r" b="b" t="t" l="l"/>
              <a:pathLst>
                <a:path h="6055216" w="5907123">
                  <a:moveTo>
                    <a:pt x="5782663" y="6055216"/>
                  </a:moveTo>
                  <a:lnTo>
                    <a:pt x="124460" y="6055216"/>
                  </a:lnTo>
                  <a:cubicBezTo>
                    <a:pt x="55880" y="6055216"/>
                    <a:pt x="0" y="5999336"/>
                    <a:pt x="0" y="5930755"/>
                  </a:cubicBezTo>
                  <a:lnTo>
                    <a:pt x="0" y="124460"/>
                  </a:lnTo>
                  <a:cubicBezTo>
                    <a:pt x="0" y="55880"/>
                    <a:pt x="55880" y="0"/>
                    <a:pt x="124460" y="0"/>
                  </a:cubicBezTo>
                  <a:lnTo>
                    <a:pt x="5782663" y="0"/>
                  </a:lnTo>
                  <a:cubicBezTo>
                    <a:pt x="5851243" y="0"/>
                    <a:pt x="5907123" y="55880"/>
                    <a:pt x="5907123" y="124460"/>
                  </a:cubicBezTo>
                  <a:lnTo>
                    <a:pt x="5907123" y="5930756"/>
                  </a:lnTo>
                  <a:cubicBezTo>
                    <a:pt x="5907123" y="5999336"/>
                    <a:pt x="5851243" y="6055216"/>
                    <a:pt x="5782663" y="6055216"/>
                  </a:cubicBezTo>
                  <a:close/>
                </a:path>
              </a:pathLst>
            </a:custGeom>
            <a:solidFill>
              <a:srgbClr val="EDA7A7"/>
            </a:solidFill>
          </p:spPr>
        </p:sp>
      </p:grpSp>
      <p:sp>
        <p:nvSpPr>
          <p:cNvPr name="Freeform 4" id="4"/>
          <p:cNvSpPr/>
          <p:nvPr/>
        </p:nvSpPr>
        <p:spPr>
          <a:xfrm flipH="false" flipV="false" rot="-3227623">
            <a:off x="16592986" y="1073344"/>
            <a:ext cx="3315235" cy="2947545"/>
          </a:xfrm>
          <a:custGeom>
            <a:avLst/>
            <a:gdLst/>
            <a:ahLst/>
            <a:cxnLst/>
            <a:rect r="r" b="b" t="t" l="l"/>
            <a:pathLst>
              <a:path h="2947545" w="3315235">
                <a:moveTo>
                  <a:pt x="0" y="0"/>
                </a:moveTo>
                <a:lnTo>
                  <a:pt x="3315235" y="0"/>
                </a:lnTo>
                <a:lnTo>
                  <a:pt x="3315235" y="2947545"/>
                </a:lnTo>
                <a:lnTo>
                  <a:pt x="0" y="29475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7689246">
            <a:off x="-1657617" y="6088825"/>
            <a:ext cx="3315235" cy="2947545"/>
          </a:xfrm>
          <a:custGeom>
            <a:avLst/>
            <a:gdLst/>
            <a:ahLst/>
            <a:cxnLst/>
            <a:rect r="r" b="b" t="t" l="l"/>
            <a:pathLst>
              <a:path h="2947545" w="3315235">
                <a:moveTo>
                  <a:pt x="0" y="0"/>
                </a:moveTo>
                <a:lnTo>
                  <a:pt x="3315234" y="0"/>
                </a:lnTo>
                <a:lnTo>
                  <a:pt x="3315234" y="2947546"/>
                </a:lnTo>
                <a:lnTo>
                  <a:pt x="0" y="2947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6" id="6"/>
          <p:cNvGraphicFramePr>
            <a:graphicFrameLocks noGrp="true"/>
          </p:cNvGraphicFramePr>
          <p:nvPr/>
        </p:nvGraphicFramePr>
        <p:xfrm>
          <a:off x="11379788" y="2378083"/>
          <a:ext cx="3681186" cy="2428875"/>
        </p:xfrm>
        <a:graphic>
          <a:graphicData uri="http://schemas.openxmlformats.org/drawingml/2006/table">
            <a:tbl>
              <a:tblPr/>
              <a:tblGrid>
                <a:gridCol w="3681186"/>
              </a:tblGrid>
              <a:tr h="899942">
                <a:tc>
                  <a:txBody>
                    <a:bodyPr anchor="t" rtlCol="false"/>
                    <a:lstStyle/>
                    <a:p>
                      <a:pPr algn="ctr">
                        <a:lnSpc>
                          <a:spcPts val="3080"/>
                        </a:lnSpc>
                        <a:defRPr/>
                      </a:pPr>
                      <a:r>
                        <a:rPr lang="en-US" sz="2200" b="true">
                          <a:solidFill>
                            <a:srgbClr val="000000"/>
                          </a:solidFill>
                          <a:latin typeface="Open Sans Bold"/>
                          <a:ea typeface="Open Sans Bold"/>
                          <a:cs typeface="Open Sans Bold"/>
                          <a:sym typeface="Open Sans Bold"/>
                        </a:rPr>
                        <a:t>Persona</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r>
              <a:tr h="764467">
                <a:tc>
                  <a:txBody>
                    <a:bodyPr anchor="t" rtlCol="false"/>
                    <a:lstStyle/>
                    <a:p>
                      <a:pPr algn="ctr">
                        <a:lnSpc>
                          <a:spcPts val="2240"/>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764467">
                <a:tc>
                  <a:txBody>
                    <a:bodyPr anchor="t" rtlCol="false"/>
                    <a:lstStyle/>
                    <a:p>
                      <a:pPr algn="ctr">
                        <a:lnSpc>
                          <a:spcPts val="2240"/>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7" id="7"/>
          <p:cNvSpPr txBox="true"/>
          <p:nvPr/>
        </p:nvSpPr>
        <p:spPr>
          <a:xfrm rot="0">
            <a:off x="2182945" y="2425708"/>
            <a:ext cx="4759821" cy="1167432"/>
          </a:xfrm>
          <a:prstGeom prst="rect">
            <a:avLst/>
          </a:prstGeom>
        </p:spPr>
        <p:txBody>
          <a:bodyPr anchor="t" rtlCol="false" tIns="0" lIns="0" bIns="0" rIns="0">
            <a:spAutoFit/>
          </a:bodyPr>
          <a:lstStyle/>
          <a:p>
            <a:pPr algn="l" marL="0" indent="0" lvl="0">
              <a:lnSpc>
                <a:spcPts val="4591"/>
              </a:lnSpc>
              <a:spcBef>
                <a:spcPct val="0"/>
              </a:spcBef>
            </a:pPr>
            <a:r>
              <a:rPr lang="en-US" sz="4173">
                <a:solidFill>
                  <a:srgbClr val="FFFFFF"/>
                </a:solidFill>
                <a:latin typeface="Circe Contrast"/>
                <a:ea typeface="Circe Contrast"/>
                <a:cs typeface="Circe Contrast"/>
                <a:sym typeface="Circe Contrast"/>
              </a:rPr>
              <a:t>Ejemplo de Composición</a:t>
            </a:r>
          </a:p>
        </p:txBody>
      </p:sp>
      <p:sp>
        <p:nvSpPr>
          <p:cNvPr name="TextBox 8" id="8"/>
          <p:cNvSpPr txBox="true"/>
          <p:nvPr/>
        </p:nvSpPr>
        <p:spPr>
          <a:xfrm rot="0">
            <a:off x="2373445" y="3890319"/>
            <a:ext cx="4378821" cy="3242977"/>
          </a:xfrm>
          <a:prstGeom prst="rect">
            <a:avLst/>
          </a:prstGeom>
        </p:spPr>
        <p:txBody>
          <a:bodyPr anchor="t" rtlCol="false" tIns="0" lIns="0" bIns="0" rIns="0">
            <a:spAutoFit/>
          </a:bodyPr>
          <a:lstStyle/>
          <a:p>
            <a:pPr algn="l">
              <a:lnSpc>
                <a:spcPts val="2903"/>
              </a:lnSpc>
            </a:pPr>
            <a:r>
              <a:rPr lang="en-US" sz="2073">
                <a:solidFill>
                  <a:srgbClr val="994A66"/>
                </a:solidFill>
                <a:latin typeface="Circe"/>
                <a:ea typeface="Circe"/>
                <a:cs typeface="Circe"/>
                <a:sym typeface="Circe"/>
              </a:rPr>
              <a:t>Aquí podemos ver como las tablas corazon y cerebro depende de la existencia de la tabla persona para existir, pero si la tabla persona deja de existir las tablas corazon y cerebro dejan de existir.</a:t>
            </a:r>
          </a:p>
          <a:p>
            <a:pPr algn="l" marL="0" indent="0" lvl="0">
              <a:lnSpc>
                <a:spcPts val="2903"/>
              </a:lnSpc>
              <a:spcBef>
                <a:spcPct val="0"/>
              </a:spcBef>
            </a:pPr>
            <a:r>
              <a:rPr lang="en-US" sz="2073">
                <a:solidFill>
                  <a:srgbClr val="994A66"/>
                </a:solidFill>
                <a:latin typeface="Circe"/>
                <a:ea typeface="Circe"/>
                <a:cs typeface="Circe"/>
                <a:sym typeface="Circe"/>
              </a:rPr>
              <a:t>aunque si deja de existir la tabla corazon la tabla persona existirá al igual que la tabla cerebro.</a:t>
            </a:r>
          </a:p>
        </p:txBody>
      </p:sp>
      <p:graphicFrame>
        <p:nvGraphicFramePr>
          <p:cNvPr name="Table 9" id="9"/>
          <p:cNvGraphicFramePr>
            <a:graphicFrameLocks noGrp="true"/>
          </p:cNvGraphicFramePr>
          <p:nvPr/>
        </p:nvGraphicFramePr>
        <p:xfrm>
          <a:off x="14241685" y="6022038"/>
          <a:ext cx="3681186" cy="2428875"/>
        </p:xfrm>
        <a:graphic>
          <a:graphicData uri="http://schemas.openxmlformats.org/drawingml/2006/table">
            <a:tbl>
              <a:tblPr/>
              <a:tblGrid>
                <a:gridCol w="3681186"/>
              </a:tblGrid>
              <a:tr h="899942">
                <a:tc>
                  <a:txBody>
                    <a:bodyPr anchor="t" rtlCol="false"/>
                    <a:lstStyle/>
                    <a:p>
                      <a:pPr algn="ctr">
                        <a:lnSpc>
                          <a:spcPts val="3080"/>
                        </a:lnSpc>
                        <a:defRPr/>
                      </a:pPr>
                      <a:r>
                        <a:rPr lang="en-US" sz="2200" b="true">
                          <a:solidFill>
                            <a:srgbClr val="000000"/>
                          </a:solidFill>
                          <a:latin typeface="Open Sans Bold"/>
                          <a:ea typeface="Open Sans Bold"/>
                          <a:cs typeface="Open Sans Bold"/>
                          <a:sym typeface="Open Sans Bold"/>
                        </a:rPr>
                        <a:t>Corazón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r>
              <a:tr h="764467">
                <a:tc>
                  <a:txBody>
                    <a:bodyPr anchor="t" rtlCol="false"/>
                    <a:lstStyle/>
                    <a:p>
                      <a:pPr algn="ctr">
                        <a:lnSpc>
                          <a:spcPts val="2240"/>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764467">
                <a:tc>
                  <a:txBody>
                    <a:bodyPr anchor="t" rtlCol="false"/>
                    <a:lstStyle/>
                    <a:p>
                      <a:pPr algn="ctr">
                        <a:lnSpc>
                          <a:spcPts val="2240"/>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graphicFrame>
        <p:nvGraphicFramePr>
          <p:cNvPr name="Table 10" id="10"/>
          <p:cNvGraphicFramePr>
            <a:graphicFrameLocks noGrp="true"/>
          </p:cNvGraphicFramePr>
          <p:nvPr/>
        </p:nvGraphicFramePr>
        <p:xfrm>
          <a:off x="8530473" y="6022038"/>
          <a:ext cx="3681186" cy="2428875"/>
        </p:xfrm>
        <a:graphic>
          <a:graphicData uri="http://schemas.openxmlformats.org/drawingml/2006/table">
            <a:tbl>
              <a:tblPr/>
              <a:tblGrid>
                <a:gridCol w="3681186"/>
              </a:tblGrid>
              <a:tr h="899942">
                <a:tc>
                  <a:txBody>
                    <a:bodyPr anchor="t" rtlCol="false"/>
                    <a:lstStyle/>
                    <a:p>
                      <a:pPr algn="ctr">
                        <a:lnSpc>
                          <a:spcPts val="3080"/>
                        </a:lnSpc>
                        <a:defRPr/>
                      </a:pPr>
                      <a:r>
                        <a:rPr lang="en-US" sz="2200" b="true">
                          <a:solidFill>
                            <a:srgbClr val="000000"/>
                          </a:solidFill>
                          <a:latin typeface="Open Sans Bold"/>
                          <a:ea typeface="Open Sans Bold"/>
                          <a:cs typeface="Open Sans Bold"/>
                          <a:sym typeface="Open Sans Bold"/>
                        </a:rPr>
                        <a:t>Cerebro</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r>
              <a:tr h="764467">
                <a:tc>
                  <a:txBody>
                    <a:bodyPr anchor="t" rtlCol="false"/>
                    <a:lstStyle/>
                    <a:p>
                      <a:pPr algn="ctr">
                        <a:lnSpc>
                          <a:spcPts val="2240"/>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764467">
                <a:tc>
                  <a:txBody>
                    <a:bodyPr anchor="t" rtlCol="false"/>
                    <a:lstStyle/>
                    <a:p>
                      <a:pPr algn="ctr">
                        <a:lnSpc>
                          <a:spcPts val="2240"/>
                        </a:lnSpc>
                        <a:defRPr/>
                      </a:pP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grpSp>
        <p:nvGrpSpPr>
          <p:cNvPr name="Group 11" id="11"/>
          <p:cNvGrpSpPr/>
          <p:nvPr/>
        </p:nvGrpSpPr>
        <p:grpSpPr>
          <a:xfrm rot="0">
            <a:off x="12802478" y="4930758"/>
            <a:ext cx="835807" cy="8358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EDA7A7"/>
            </a:solidFill>
          </p:spPr>
        </p:sp>
        <p:sp>
          <p:nvSpPr>
            <p:cNvPr name="TextBox 13" id="13"/>
            <p:cNvSpPr txBox="true"/>
            <p:nvPr/>
          </p:nvSpPr>
          <p:spPr>
            <a:xfrm>
              <a:off x="139700" y="139700"/>
              <a:ext cx="533400" cy="533400"/>
            </a:xfrm>
            <a:prstGeom prst="rect">
              <a:avLst/>
            </a:prstGeom>
          </p:spPr>
          <p:txBody>
            <a:bodyPr anchor="ctr" rtlCol="false" tIns="50800" lIns="50800" bIns="50800" rIns="50800"/>
            <a:lstStyle/>
            <a:p>
              <a:pPr algn="ctr">
                <a:lnSpc>
                  <a:spcPts val="2748"/>
                </a:lnSpc>
              </a:pPr>
            </a:p>
          </p:txBody>
        </p:sp>
      </p:grpSp>
      <p:sp>
        <p:nvSpPr>
          <p:cNvPr name="AutoShape 14" id="14"/>
          <p:cNvSpPr/>
          <p:nvPr/>
        </p:nvSpPr>
        <p:spPr>
          <a:xfrm flipV="true">
            <a:off x="10454374" y="5348662"/>
            <a:ext cx="2348103" cy="521641"/>
          </a:xfrm>
          <a:prstGeom prst="line">
            <a:avLst/>
          </a:prstGeom>
          <a:ln cap="flat" w="38100">
            <a:solidFill>
              <a:srgbClr val="FF9999"/>
            </a:solidFill>
            <a:prstDash val="solid"/>
            <a:headEnd type="none" len="sm" w="sm"/>
            <a:tailEnd type="none" len="sm" w="sm"/>
          </a:ln>
        </p:spPr>
      </p:sp>
      <p:sp>
        <p:nvSpPr>
          <p:cNvPr name="AutoShape 15" id="15"/>
          <p:cNvSpPr/>
          <p:nvPr/>
        </p:nvSpPr>
        <p:spPr>
          <a:xfrm>
            <a:off x="13644004" y="5366833"/>
            <a:ext cx="2294369" cy="722198"/>
          </a:xfrm>
          <a:prstGeom prst="line">
            <a:avLst/>
          </a:prstGeom>
          <a:ln cap="flat" w="38100">
            <a:solidFill>
              <a:srgbClr val="FF9999"/>
            </a:solidFill>
            <a:prstDash val="solid"/>
            <a:headEnd type="none" len="sm" w="sm"/>
            <a:tailEnd type="none" len="sm" w="sm"/>
          </a:ln>
        </p:spPr>
      </p:sp>
      <p:sp>
        <p:nvSpPr>
          <p:cNvPr name="AutoShape 16" id="16"/>
          <p:cNvSpPr/>
          <p:nvPr/>
        </p:nvSpPr>
        <p:spPr>
          <a:xfrm>
            <a:off x="13220381" y="4806958"/>
            <a:ext cx="106946" cy="399128"/>
          </a:xfrm>
          <a:prstGeom prst="line">
            <a:avLst/>
          </a:prstGeom>
          <a:ln cap="flat" w="38100">
            <a:solidFill>
              <a:srgbClr val="FF9999"/>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F6EEE8"/>
        </a:solidFill>
      </p:bgPr>
    </p:bg>
    <p:spTree>
      <p:nvGrpSpPr>
        <p:cNvPr id="1" name=""/>
        <p:cNvGrpSpPr/>
        <p:nvPr/>
      </p:nvGrpSpPr>
      <p:grpSpPr>
        <a:xfrm>
          <a:off x="0" y="0"/>
          <a:ext cx="0" cy="0"/>
          <a:chOff x="0" y="0"/>
          <a:chExt cx="0" cy="0"/>
        </a:xfrm>
      </p:grpSpPr>
      <p:grpSp>
        <p:nvGrpSpPr>
          <p:cNvPr name="Group 2" id="2"/>
          <p:cNvGrpSpPr/>
          <p:nvPr/>
        </p:nvGrpSpPr>
        <p:grpSpPr>
          <a:xfrm rot="0">
            <a:off x="290800" y="2331894"/>
            <a:ext cx="227501" cy="5623212"/>
            <a:chOff x="0" y="0"/>
            <a:chExt cx="303335" cy="7497616"/>
          </a:xfrm>
        </p:grpSpPr>
        <p:sp>
          <p:nvSpPr>
            <p:cNvPr name="AutoShape 3" id="3"/>
            <p:cNvSpPr/>
            <p:nvPr/>
          </p:nvSpPr>
          <p:spPr>
            <a:xfrm rot="0">
              <a:off x="138967" y="138967"/>
              <a:ext cx="25400" cy="7219681"/>
            </a:xfrm>
            <a:prstGeom prst="rect">
              <a:avLst/>
            </a:prstGeom>
            <a:solidFill>
              <a:srgbClr val="725076"/>
            </a:solidFill>
          </p:spPr>
        </p:sp>
        <p:grpSp>
          <p:nvGrpSpPr>
            <p:cNvPr name="Group 4" id="4"/>
            <p:cNvGrpSpPr/>
            <p:nvPr/>
          </p:nvGrpSpPr>
          <p:grpSpPr>
            <a:xfrm rot="0">
              <a:off x="25400" y="0"/>
              <a:ext cx="277935" cy="277935"/>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6" id="6"/>
            <p:cNvGrpSpPr/>
            <p:nvPr/>
          </p:nvGrpSpPr>
          <p:grpSpPr>
            <a:xfrm rot="0">
              <a:off x="25400" y="4813120"/>
              <a:ext cx="277935" cy="277935"/>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8" id="8"/>
            <p:cNvGrpSpPr/>
            <p:nvPr/>
          </p:nvGrpSpPr>
          <p:grpSpPr>
            <a:xfrm rot="0">
              <a:off x="0" y="2406560"/>
              <a:ext cx="277935" cy="277935"/>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10" id="10"/>
            <p:cNvGrpSpPr/>
            <p:nvPr/>
          </p:nvGrpSpPr>
          <p:grpSpPr>
            <a:xfrm rot="0">
              <a:off x="0" y="7219681"/>
              <a:ext cx="277935" cy="277935"/>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sp>
        <p:nvSpPr>
          <p:cNvPr name="TextBox 12" id="12"/>
          <p:cNvSpPr txBox="true"/>
          <p:nvPr/>
        </p:nvSpPr>
        <p:spPr>
          <a:xfrm rot="0">
            <a:off x="2693182" y="535733"/>
            <a:ext cx="12901635" cy="1135399"/>
          </a:xfrm>
          <a:prstGeom prst="rect">
            <a:avLst/>
          </a:prstGeom>
        </p:spPr>
        <p:txBody>
          <a:bodyPr anchor="t" rtlCol="false" tIns="0" lIns="0" bIns="0" rIns="0">
            <a:spAutoFit/>
          </a:bodyPr>
          <a:lstStyle/>
          <a:p>
            <a:pPr algn="l">
              <a:lnSpc>
                <a:spcPts val="8758"/>
              </a:lnSpc>
            </a:pPr>
            <a:r>
              <a:rPr lang="en-US" sz="7961">
                <a:solidFill>
                  <a:srgbClr val="412D44"/>
                </a:solidFill>
                <a:latin typeface="Circe Contrast"/>
                <a:ea typeface="Circe Contrast"/>
                <a:cs typeface="Circe Contrast"/>
                <a:sym typeface="Circe Contrast"/>
              </a:rPr>
              <a:t>Diagrama de clases Meditrack</a:t>
            </a:r>
          </a:p>
        </p:txBody>
      </p:sp>
      <p:grpSp>
        <p:nvGrpSpPr>
          <p:cNvPr name="Group 13" id="13"/>
          <p:cNvGrpSpPr>
            <a:grpSpLocks noChangeAspect="true"/>
          </p:cNvGrpSpPr>
          <p:nvPr/>
        </p:nvGrpSpPr>
        <p:grpSpPr>
          <a:xfrm rot="0">
            <a:off x="16268343" y="8294651"/>
            <a:ext cx="5246370" cy="5246370"/>
            <a:chOff x="0" y="0"/>
            <a:chExt cx="6355080" cy="6355080"/>
          </a:xfrm>
        </p:grpSpPr>
        <p:sp>
          <p:nvSpPr>
            <p:cNvPr name="Freeform 14" id="1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FFFFFF"/>
            </a:solidFill>
          </p:spPr>
        </p:sp>
      </p:grpSp>
      <p:grpSp>
        <p:nvGrpSpPr>
          <p:cNvPr name="Group 15" id="15"/>
          <p:cNvGrpSpPr>
            <a:grpSpLocks noChangeAspect="true"/>
          </p:cNvGrpSpPr>
          <p:nvPr/>
        </p:nvGrpSpPr>
        <p:grpSpPr>
          <a:xfrm rot="0">
            <a:off x="-2332385" y="-3575237"/>
            <a:ext cx="5246370" cy="5246370"/>
            <a:chOff x="0" y="0"/>
            <a:chExt cx="6355080" cy="6355080"/>
          </a:xfrm>
        </p:grpSpPr>
        <p:sp>
          <p:nvSpPr>
            <p:cNvPr name="Freeform 16" id="16"/>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725076">
                <a:alpha val="40000"/>
              </a:srgbClr>
            </a:solidFill>
          </p:spPr>
        </p:sp>
      </p:grpSp>
      <p:grpSp>
        <p:nvGrpSpPr>
          <p:cNvPr name="Group 17" id="17"/>
          <p:cNvGrpSpPr/>
          <p:nvPr/>
        </p:nvGrpSpPr>
        <p:grpSpPr>
          <a:xfrm rot="0">
            <a:off x="17714356" y="2331894"/>
            <a:ext cx="227501" cy="5623212"/>
            <a:chOff x="0" y="0"/>
            <a:chExt cx="303335" cy="7497616"/>
          </a:xfrm>
        </p:grpSpPr>
        <p:sp>
          <p:nvSpPr>
            <p:cNvPr name="AutoShape 18" id="18"/>
            <p:cNvSpPr/>
            <p:nvPr/>
          </p:nvSpPr>
          <p:spPr>
            <a:xfrm rot="0">
              <a:off x="138967" y="138967"/>
              <a:ext cx="25400" cy="7219681"/>
            </a:xfrm>
            <a:prstGeom prst="rect">
              <a:avLst/>
            </a:prstGeom>
            <a:solidFill>
              <a:srgbClr val="725076"/>
            </a:solidFill>
          </p:spPr>
        </p:sp>
        <p:grpSp>
          <p:nvGrpSpPr>
            <p:cNvPr name="Group 19" id="19"/>
            <p:cNvGrpSpPr/>
            <p:nvPr/>
          </p:nvGrpSpPr>
          <p:grpSpPr>
            <a:xfrm rot="0">
              <a:off x="25400" y="0"/>
              <a:ext cx="277935" cy="277935"/>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21" id="21"/>
            <p:cNvGrpSpPr/>
            <p:nvPr/>
          </p:nvGrpSpPr>
          <p:grpSpPr>
            <a:xfrm rot="0">
              <a:off x="25400" y="4813120"/>
              <a:ext cx="277935" cy="277935"/>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23" id="23"/>
            <p:cNvGrpSpPr/>
            <p:nvPr/>
          </p:nvGrpSpPr>
          <p:grpSpPr>
            <a:xfrm rot="0">
              <a:off x="0" y="2406560"/>
              <a:ext cx="277935" cy="277935"/>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nvGrpSpPr>
            <p:cNvPr name="Group 25" id="25"/>
            <p:cNvGrpSpPr/>
            <p:nvPr/>
          </p:nvGrpSpPr>
          <p:grpSpPr>
            <a:xfrm rot="0">
              <a:off x="0" y="7219681"/>
              <a:ext cx="277935" cy="277935"/>
              <a:chOff x="0" y="0"/>
              <a:chExt cx="6350000" cy="6350000"/>
            </a:xfrm>
          </p:grpSpPr>
          <p:sp>
            <p:nvSpPr>
              <p:cNvPr name="Freeform 26" id="2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725076"/>
              </a:solidFill>
            </p:spPr>
          </p:sp>
        </p:grpSp>
      </p:grpSp>
      <p:grpSp>
        <p:nvGrpSpPr>
          <p:cNvPr name="Group 27" id="27"/>
          <p:cNvGrpSpPr/>
          <p:nvPr/>
        </p:nvGrpSpPr>
        <p:grpSpPr>
          <a:xfrm rot="0">
            <a:off x="1964314" y="2064214"/>
            <a:ext cx="14304029" cy="7716969"/>
            <a:chOff x="0" y="0"/>
            <a:chExt cx="3767316" cy="2032453"/>
          </a:xfrm>
        </p:grpSpPr>
        <p:sp>
          <p:nvSpPr>
            <p:cNvPr name="Freeform 28" id="28"/>
            <p:cNvSpPr/>
            <p:nvPr/>
          </p:nvSpPr>
          <p:spPr>
            <a:xfrm flipH="false" flipV="false" rot="0">
              <a:off x="0" y="0"/>
              <a:ext cx="3767317" cy="2032453"/>
            </a:xfrm>
            <a:custGeom>
              <a:avLst/>
              <a:gdLst/>
              <a:ahLst/>
              <a:cxnLst/>
              <a:rect r="r" b="b" t="t" l="l"/>
              <a:pathLst>
                <a:path h="2032453" w="3767317">
                  <a:moveTo>
                    <a:pt x="0" y="0"/>
                  </a:moveTo>
                  <a:lnTo>
                    <a:pt x="3767317" y="0"/>
                  </a:lnTo>
                  <a:lnTo>
                    <a:pt x="3767317" y="2032453"/>
                  </a:lnTo>
                  <a:lnTo>
                    <a:pt x="0" y="2032453"/>
                  </a:lnTo>
                  <a:close/>
                </a:path>
              </a:pathLst>
            </a:custGeom>
            <a:solidFill>
              <a:srgbClr val="FFFFFF"/>
            </a:solidFill>
          </p:spPr>
        </p:sp>
        <p:sp>
          <p:nvSpPr>
            <p:cNvPr name="TextBox 29" id="29"/>
            <p:cNvSpPr txBox="true"/>
            <p:nvPr/>
          </p:nvSpPr>
          <p:spPr>
            <a:xfrm>
              <a:off x="0" y="0"/>
              <a:ext cx="3767316" cy="2032453"/>
            </a:xfrm>
            <a:prstGeom prst="rect">
              <a:avLst/>
            </a:prstGeom>
          </p:spPr>
          <p:txBody>
            <a:bodyPr anchor="ctr" rtlCol="false" tIns="50800" lIns="50800" bIns="50800" rIns="50800"/>
            <a:lstStyle/>
            <a:p>
              <a:pPr algn="ctr">
                <a:lnSpc>
                  <a:spcPts val="2748"/>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DAGysBRfJcQ</dc:identifier>
  <dcterms:modified xsi:type="dcterms:W3CDTF">2011-08-01T06:04:30Z</dcterms:modified>
  <cp:revision>1</cp:revision>
  <dc:title>Presentación Propuesta de Marketing Estrategia de Negocio Minimalista Morado</dc:title>
</cp:coreProperties>
</file>